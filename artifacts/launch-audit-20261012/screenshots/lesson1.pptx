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0.9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Ask: Where have you seen Photosynthesis before?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8.1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Teacher: Use mini whiteboards; ask students to hold up A–D.</a:t>
            </a:r>
          </a:p>
          <a:p/>
          <a:p>
            <a:r>
              <a:t>Answer: A. Ideas in this topic are supported by evidence.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>
            <a:r>
              <a:t>No suitable image was available from the enabled image sources. This slide uses editable teaching content instead of a placeholder.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12064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8229600" cy="1280160"/>
          </a:xfrm>
          <a:prstGeom prst="rect">
            <a:avLst/>
          </a:prstGeom>
          <a:noFill/>
        </p:spPr>
        <p:txBody>
          <a:bodyPr wrap="square" lIns="63500" rIns="63500" tIns="38100" bIns="38100" anchor="b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4500" b="1">
                <a:solidFill>
                  <a:srgbClr val="FFFFFF"/>
                </a:solidFill>
                <a:latin typeface="Montserrat"/>
              </a:rPr>
              <a:t>What is Photosynthesis?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8229600" cy="7315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F59E0B"/>
                </a:solidFill>
                <a:latin typeface="Open Sans"/>
              </a:rPr>
              <a:t>Grade 8 Science • Lesson 1 of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Learning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07742"/>
            <a:ext cx="10515600" cy="1165860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0" y="2799207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5610" y="2507742"/>
            <a:ext cx="9493769" cy="116586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I can explain the meaning of Photosynthesis in my own 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24478"/>
            <a:ext cx="10515600" cy="1165860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0" y="4115943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5610" y="3824478"/>
            <a:ext cx="9493769" cy="116586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I can give an example of the importance of Photosynthesis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Key idea: meaning of Photosynthesis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515600" cy="982065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50"/>
              </a:spcAft>
              <a:buNone/>
            </a:pPr>
            <a:r>
              <a:rPr sz="2430" b="0">
                <a:solidFill>
                  <a:srgbClr val="111827"/>
                </a:solidFill>
                <a:latin typeface="Open Sans"/>
              </a:rPr>
              <a:t>Photosynthesis describes something we can observe and explain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0164"/>
            <a:ext cx="10515600" cy="982065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90"/>
              </a:spcAft>
              <a:buNone/>
            </a:pPr>
            <a:r>
              <a:rPr sz="2530" b="0">
                <a:solidFill>
                  <a:srgbClr val="111827"/>
                </a:solidFill>
                <a:latin typeface="Open Sans"/>
              </a:rPr>
              <a:t>The meaning of Photosynthesis links to what we learned 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25848"/>
            <a:ext cx="10515600" cy="982065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90"/>
              </a:spcAft>
              <a:buNone/>
            </a:pPr>
            <a:r>
              <a:rPr sz="2530" b="0">
                <a:solidFill>
                  <a:srgbClr val="111827"/>
                </a:solidFill>
                <a:latin typeface="Open Sans"/>
              </a:rPr>
              <a:t>Scientists and experts use evidence to test ideas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61532"/>
            <a:ext cx="10515600" cy="982065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90"/>
              </a:spcAft>
              <a:buNone/>
            </a:pPr>
            <a:r>
              <a:rPr sz="2530" b="0">
                <a:solidFill>
                  <a:srgbClr val="111827"/>
                </a:solidFill>
                <a:latin typeface="Open Sans"/>
              </a:rPr>
              <a:t>We will practise with examples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200939"/>
            <a:ext cx="10515336" cy="73174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How Photosynthesis happens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63" y="1810483"/>
            <a:ext cx="2112212" cy="14493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sz="2200" b="1">
                <a:solidFill>
                  <a:srgbClr val="FFFFFF"/>
                </a:solidFill>
                <a:latin typeface="Open Sans"/>
              </a:rPr>
              <a:t>Start</a:t>
            </a:r>
          </a:p>
        </p:txBody>
      </p:sp>
      <p:sp>
        <p:nvSpPr>
          <p:cNvPr id="9" name="Oval 8"/>
          <p:cNvSpPr/>
          <p:nvPr/>
        </p:nvSpPr>
        <p:spPr>
          <a:xfrm>
            <a:off x="1490429" y="1604743"/>
            <a:ext cx="411480" cy="41148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570"/>
              </a:spcAft>
              <a:buNone/>
            </a:pPr>
            <a:r>
              <a:rPr sz="162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63" y="3397039"/>
            <a:ext cx="2112212" cy="2420601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630"/>
              </a:spcAft>
              <a:buNone/>
            </a:pPr>
            <a:r>
              <a:rPr sz="1800" b="0">
                <a:solidFill>
                  <a:srgbClr val="1F2937"/>
                </a:solidFill>
                <a:latin typeface="Open Sans"/>
              </a:rPr>
              <a:t>The first stage of Photosynthesis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71725" y="2363731"/>
            <a:ext cx="341367" cy="342900"/>
          </a:xfrm>
          <a:prstGeom prst="rightArrow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2542" y="1810483"/>
            <a:ext cx="2112212" cy="14493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sz="2200" b="1">
                <a:solidFill>
                  <a:srgbClr val="FFFFFF"/>
                </a:solidFill>
                <a:latin typeface="Open Sans"/>
              </a:rPr>
              <a:t>Change</a:t>
            </a:r>
          </a:p>
        </p:txBody>
      </p:sp>
      <p:sp>
        <p:nvSpPr>
          <p:cNvPr id="13" name="Oval 12"/>
          <p:cNvSpPr/>
          <p:nvPr/>
        </p:nvSpPr>
        <p:spPr>
          <a:xfrm>
            <a:off x="4382908" y="1604743"/>
            <a:ext cx="411480" cy="41148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570"/>
              </a:spcAft>
              <a:buNone/>
            </a:pPr>
            <a:r>
              <a:rPr sz="162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42" y="3397039"/>
            <a:ext cx="2112212" cy="2420601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630"/>
              </a:spcAft>
              <a:buNone/>
            </a:pPr>
            <a:r>
              <a:rPr sz="1800" b="0">
                <a:solidFill>
                  <a:srgbClr val="1F2937"/>
                </a:solidFill>
                <a:latin typeface="Open Sans"/>
              </a:rPr>
              <a:t>Something is transformed or moves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64204" y="2363731"/>
            <a:ext cx="341367" cy="342900"/>
          </a:xfrm>
          <a:prstGeom prst="rightArrow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25021" y="1810483"/>
            <a:ext cx="2112212" cy="14493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sz="2200" b="1">
                <a:solidFill>
                  <a:srgbClr val="FFFFFF"/>
                </a:solidFill>
                <a:latin typeface="Open Sans"/>
              </a:rPr>
              <a:t>Result</a:t>
            </a:r>
          </a:p>
        </p:txBody>
      </p:sp>
      <p:sp>
        <p:nvSpPr>
          <p:cNvPr id="17" name="Oval 16"/>
          <p:cNvSpPr/>
          <p:nvPr/>
        </p:nvSpPr>
        <p:spPr>
          <a:xfrm>
            <a:off x="7275387" y="1604743"/>
            <a:ext cx="411480" cy="41148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570"/>
              </a:spcAft>
              <a:buNone/>
            </a:pPr>
            <a:r>
              <a:rPr sz="162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5021" y="3397039"/>
            <a:ext cx="2112212" cy="2420601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630"/>
              </a:spcAft>
              <a:buNone/>
            </a:pPr>
            <a:r>
              <a:rPr sz="1800" b="0">
                <a:solidFill>
                  <a:srgbClr val="1F2937"/>
                </a:solidFill>
                <a:latin typeface="Open Sans"/>
              </a:rPr>
              <a:t>We can observe the outcome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56683" y="2363731"/>
            <a:ext cx="341367" cy="342900"/>
          </a:xfrm>
          <a:prstGeom prst="rightArrow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17500" y="1810483"/>
            <a:ext cx="2112212" cy="14493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sz="2200" b="1">
                <a:solidFill>
                  <a:srgbClr val="FFFFFF"/>
                </a:solidFill>
                <a:latin typeface="Open Sans"/>
              </a:rPr>
              <a:t>Check</a:t>
            </a:r>
          </a:p>
        </p:txBody>
      </p:sp>
      <p:sp>
        <p:nvSpPr>
          <p:cNvPr id="21" name="Oval 20"/>
          <p:cNvSpPr/>
          <p:nvPr/>
        </p:nvSpPr>
        <p:spPr>
          <a:xfrm>
            <a:off x="10167866" y="1604743"/>
            <a:ext cx="411480" cy="41148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570"/>
              </a:spcAft>
              <a:buNone/>
            </a:pPr>
            <a:r>
              <a:rPr sz="162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500" y="3397039"/>
            <a:ext cx="2112212" cy="2420601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630"/>
              </a:spcAft>
              <a:buNone/>
            </a:pPr>
            <a:r>
              <a:rPr sz="1800" b="0">
                <a:solidFill>
                  <a:srgbClr val="1F2937"/>
                </a:solidFill>
                <a:latin typeface="Open Sans"/>
              </a:rPr>
              <a:t>Use evidence to confirm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200939"/>
            <a:ext cx="10515336" cy="73174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Activity: explore Photosynthesis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63" y="1554708"/>
            <a:ext cx="2794702" cy="2344612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sz="3080" b="1">
                <a:solidFill>
                  <a:srgbClr val="FFFFFF"/>
                </a:solidFill>
                <a:latin typeface="Open Sans"/>
              </a:rPr>
              <a:t>8 min</a:t>
            </a:r>
          </a:p>
          <a:p>
            <a:pPr marL="0" indent="0" algn="ctr">
              <a:lnSpc>
                <a:spcPct val="100000"/>
              </a:lnSpc>
              <a:spcAft>
                <a:spcPts val="770"/>
              </a:spcAft>
              <a:buNone/>
            </a:pPr>
            <a:r>
              <a:rPr sz="2200" b="0">
                <a:solidFill>
                  <a:srgbClr val="FFFFFF"/>
                </a:solidFill>
                <a:latin typeface="Open Sans"/>
              </a:rPr>
              <a:t>Pairs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73665" y="1554708"/>
            <a:ext cx="7556048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19965" y="1923439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195" y="1554708"/>
            <a:ext cx="6534217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Read the example card with your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73665" y="3025977"/>
            <a:ext cx="7556048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19965" y="3394708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9195" y="3025977"/>
            <a:ext cx="6534217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Decide how it shows Photosynthesis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73665" y="4497246"/>
            <a:ext cx="7556048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19965" y="4865977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9195" y="4497246"/>
            <a:ext cx="6534217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Share your answer with another pair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Quick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607040" cy="1056132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910"/>
              </a:spcAft>
              <a:buNone/>
            </a:pPr>
            <a:r>
              <a:rPr sz="2600" b="1">
                <a:solidFill>
                  <a:srgbClr val="1F2937"/>
                </a:solidFill>
                <a:latin typeface="Open Sans"/>
              </a:rPr>
              <a:t>Which statement about Photosynthesis is correct?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7772"/>
            <a:ext cx="5084070" cy="1097280"/>
          </a:xfrm>
          <a:prstGeom prst="rect">
            <a:avLst/>
          </a:prstGeom>
          <a:solidFill>
            <a:srgbClr val="DDEBEA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1996" y="3022092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60"/>
              </a:spcAft>
              <a:buNone/>
            </a:pPr>
            <a:r>
              <a:rPr sz="216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2553" y="2747772"/>
            <a:ext cx="4169680" cy="109728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Photosynthesis can be explained using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0" y="2747772"/>
            <a:ext cx="5084070" cy="1097280"/>
          </a:xfrm>
          <a:prstGeom prst="rect">
            <a:avLst/>
          </a:prstGeom>
          <a:solidFill>
            <a:srgbClr val="DDEBEA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84966" y="3022092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60"/>
              </a:spcAft>
              <a:buNone/>
            </a:pPr>
            <a:r>
              <a:rPr sz="216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5523" y="2747772"/>
            <a:ext cx="4169680" cy="109728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Photosynthesis never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4502"/>
            <a:ext cx="5084070" cy="1097280"/>
          </a:xfrm>
          <a:prstGeom prst="rect">
            <a:avLst/>
          </a:prstGeom>
          <a:solidFill>
            <a:srgbClr val="DDEBEA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996" y="4338822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60"/>
              </a:spcAft>
              <a:buNone/>
            </a:pPr>
            <a:r>
              <a:rPr sz="216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2553" y="4064502"/>
            <a:ext cx="4169680" cy="109728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Photosynthesis only happens in labs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0" y="4064502"/>
            <a:ext cx="5084070" cy="1097280"/>
          </a:xfrm>
          <a:prstGeom prst="rect">
            <a:avLst/>
          </a:prstGeom>
          <a:solidFill>
            <a:srgbClr val="DDEBEA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84966" y="4338822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60"/>
              </a:spcAft>
              <a:buNone/>
            </a:pPr>
            <a:r>
              <a:rPr sz="216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5523" y="4064502"/>
            <a:ext cx="4169680" cy="109728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Photosynthesis has no real-world uses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Seeing Photosynthesis in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515600" cy="1360627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90"/>
              </a:spcAft>
              <a:buNone/>
            </a:pPr>
            <a:r>
              <a:rPr sz="2530" b="0">
                <a:solidFill>
                  <a:srgbClr val="111827"/>
                </a:solidFill>
                <a:latin typeface="Open Sans"/>
              </a:rPr>
              <a:t>Look carefully at the picture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8726"/>
            <a:ext cx="10515600" cy="1360627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90"/>
              </a:spcAft>
              <a:buNone/>
            </a:pPr>
            <a:r>
              <a:rPr sz="2530" b="0">
                <a:solidFill>
                  <a:srgbClr val="111827"/>
                </a:solidFill>
                <a:latin typeface="Open Sans"/>
              </a:rPr>
              <a:t>What do you notice first?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82972"/>
            <a:ext cx="10515600" cy="1360627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90"/>
              </a:spcAft>
              <a:buNone/>
            </a:pPr>
            <a:r>
              <a:rPr sz="2530" b="0">
                <a:solidFill>
                  <a:srgbClr val="111827"/>
                </a:solidFill>
                <a:latin typeface="Open Sans"/>
              </a:rPr>
              <a:t>How does it show Photosynthesis?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200939"/>
            <a:ext cx="10515336" cy="73174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Key vocabulary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63" y="1554708"/>
          <a:ext cx="10789650" cy="426293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394825"/>
                <a:gridCol w="5394825"/>
              </a:tblGrid>
              <a:tr h="1065733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Open Sans"/>
                        </a:rPr>
                        <a:t>Term</a:t>
                      </a:r>
                    </a:p>
                  </a:txBody>
                  <a:tcPr marL="76200" marR="76200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Open Sans"/>
                        </a:rP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0F766E"/>
                    </a:solidFill>
                  </a:tcPr>
                </a:tc>
              </a:tr>
              <a:tr h="1065733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111827"/>
                          </a:solidFill>
                          <a:latin typeface="Open Sans"/>
                        </a:rPr>
                        <a:t>Photosynthesis term 1</a:t>
                      </a:r>
                    </a:p>
                  </a:txBody>
                  <a:tcPr marL="76200" marR="76200" marT="38100" marB="38100" anchor="ctr">
                    <a:solidFill>
                      <a:srgbClr val="F1F7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827"/>
                          </a:solidFill>
                          <a:latin typeface="Open Sans"/>
                        </a:rPr>
                        <a:t>A word we use when talking about Photosynthesis</a:t>
                      </a:r>
                    </a:p>
                  </a:txBody>
                  <a:tcPr marL="76200" marR="76200" marT="38100" marB="38100" anchor="ctr">
                    <a:solidFill>
                      <a:srgbClr val="F1F7F6"/>
                    </a:solidFill>
                  </a:tcPr>
                </a:tc>
              </a:tr>
              <a:tr h="1065733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111827"/>
                          </a:solidFill>
                          <a:latin typeface="Open Sans"/>
                        </a:rPr>
                        <a:t>Photosynthesis term 2</a:t>
                      </a:r>
                    </a:p>
                  </a:txBody>
                  <a:tcPr marL="76200" marR="76200" marT="38100" marB="38100" anchor="ctr">
                    <a:solidFill>
                      <a:srgbClr val="DD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827"/>
                          </a:solidFill>
                          <a:latin typeface="Open Sans"/>
                        </a:rPr>
                        <a:t>A word we use when talking about Photosynthesis</a:t>
                      </a:r>
                    </a:p>
                  </a:txBody>
                  <a:tcPr marL="76200" marR="76200" marT="38100" marB="38100" anchor="ctr">
                    <a:solidFill>
                      <a:srgbClr val="DDEBEA"/>
                    </a:solidFill>
                  </a:tcPr>
                </a:tc>
              </a:tr>
              <a:tr h="1065733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111827"/>
                          </a:solidFill>
                          <a:latin typeface="Open Sans"/>
                        </a:rPr>
                        <a:t>Photosynthesis term 3</a:t>
                      </a:r>
                    </a:p>
                  </a:txBody>
                  <a:tcPr marL="76200" marR="76200" marT="38100" marB="38100" anchor="ctr">
                    <a:solidFill>
                      <a:srgbClr val="F1F7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827"/>
                          </a:solidFill>
                          <a:latin typeface="Open Sans"/>
                        </a:rPr>
                        <a:t>A word we use when talking about Photosynthesis</a:t>
                      </a:r>
                    </a:p>
                  </a:txBody>
                  <a:tcPr marL="76200" marR="76200" marT="38100" marB="38100" anchor="ctr"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515600" cy="1362456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0" y="1944243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5610" y="1554480"/>
            <a:ext cx="9493769" cy="13624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We explored the meaning of Photosynthesis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7812"/>
            <a:ext cx="10515600" cy="1362456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0" y="3457575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5610" y="3067812"/>
            <a:ext cx="9493769" cy="13624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We practised with examples of Photosynthesis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81144"/>
            <a:ext cx="10515600" cy="1362456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380" y="4970907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5610" y="4581144"/>
            <a:ext cx="9493769" cy="13624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We checked our understanding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200939"/>
            <a:ext cx="10515336" cy="73174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Homework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63" y="1554708"/>
            <a:ext cx="10789650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63" y="1923439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5593" y="1554708"/>
            <a:ext cx="9767819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Find one example of Photosynthesis at home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63" y="3025977"/>
            <a:ext cx="10789650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63" y="3394708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5593" y="3025977"/>
            <a:ext cx="9767819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Write two sentences explaining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63" y="4497246"/>
            <a:ext cx="10789650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363" y="4865977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5593" y="4497246"/>
            <a:ext cx="9767819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Bring it to the next lesson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0F766E"/>
      </a:dk2>
      <a:lt2>
        <a:srgbClr val="ECFDF5"/>
      </a:lt2>
      <a:accent1>
        <a:srgbClr val="0F766E"/>
      </a:accent1>
      <a:accent2>
        <a:srgbClr val="F59E0B"/>
      </a:accent2>
      <a:accent3>
        <a:srgbClr val="10B981"/>
      </a:accent3>
      <a:accent4>
        <a:srgbClr val="0EA5E9"/>
      </a:accent4>
      <a:accent5>
        <a:srgbClr val="6366F1"/>
      </a:accent5>
      <a:accent6>
        <a:srgbClr val="EF4444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Photosynthesis — Lesson 1: What is Photosynthesis?</dc:title>
  <dc:subject>Grade 8 Science</dc:subject>
  <dc:creator>Amira Hassan</dc:creator>
  <cp:keywords>Photosynthesis</cp:keywords>
  <dc:description/>
  <cp:lastModifiedBy>Amira Hassan</cp:lastModifiedBy>
  <cp:revision>1</cp:revision>
  <dcterms:created xsi:type="dcterms:W3CDTF">2013-01-27T09:14:16Z</dcterms:created>
  <dcterms:modified xsi:type="dcterms:W3CDTF">2013-01-27T09:15:58Z</dcterms:modified>
  <cp:category/>
</cp:coreProperties>
</file>