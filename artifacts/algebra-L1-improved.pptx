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6" r:id="rId4"/>
    <p:sldMasterId id="2147483663" r:id="rId5"/>
    <p:sldMasterId id="2147483675" r:id="rId6"/>
  </p:sldMasterIdLst>
  <p:notesMasterIdLst>
    <p:notesMasterId r:id="rId17"/>
  </p:notesMasterIdLst>
  <p:sldIdLst>
    <p:sldId id="884" r:id="rId22"/>
    <p:sldId id="885" r:id="rId23"/>
    <p:sldId id="886" r:id="rId24"/>
    <p:sldId id="887" r:id="rId25"/>
    <p:sldId id="888" r:id="rId26"/>
    <p:sldId id="889" r:id="rId27"/>
    <p:sldId id="890" r:id="rId28"/>
    <p:sldId id="891" r:id="rId29"/>
    <p:sldId id="892" r:id="rId30"/>
    <p:sldId id="893" r:id="rId31"/>
    <p:sldId id="894" r:id="rId32"/>
    <p:sldId id="89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9F5F5"/>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897" autoAdjust="0"/>
    <p:restoredTop sz="81226" autoAdjust="0"/>
  </p:normalViewPr>
  <p:slideViewPr>
    <p:cSldViewPr snapToGrid="0">
      <p:cViewPr varScale="1">
        <p:scale>
          <a:sx n="67" d="100"/>
          <a:sy n="67" d="100"/>
        </p:scale>
        <p:origin x="658" y="38"/>
      </p:cViewPr>
      <p:guideLst>
        <p:guide orient="horz" pos="217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xml"/><Relationship Id="rId23" Type="http://schemas.openxmlformats.org/officeDocument/2006/relationships/slide" Target="slides/slide2.xml"/><Relationship Id="rId24" Type="http://schemas.openxmlformats.org/officeDocument/2006/relationships/slide" Target="slides/slide3.xml"/><Relationship Id="rId25" Type="http://schemas.openxmlformats.org/officeDocument/2006/relationships/slide" Target="slides/slide4.xml"/><Relationship Id="rId26" Type="http://schemas.openxmlformats.org/officeDocument/2006/relationships/slide" Target="slides/slide5.xml"/><Relationship Id="rId27" Type="http://schemas.openxmlformats.org/officeDocument/2006/relationships/slide" Target="slides/slide6.xml"/><Relationship Id="rId28" Type="http://schemas.openxmlformats.org/officeDocument/2006/relationships/slide" Target="slides/slide7.xml"/><Relationship Id="rId29" Type="http://schemas.openxmlformats.org/officeDocument/2006/relationships/slide" Target="slides/slide8.xml"/><Relationship Id="rId30" Type="http://schemas.openxmlformats.org/officeDocument/2006/relationships/slide" Target="slides/slide9.xml"/><Relationship Id="rId31" Type="http://schemas.openxmlformats.org/officeDocument/2006/relationships/slide" Target="slides/slide10.xml"/><Relationship Id="rId32" Type="http://schemas.openxmlformats.org/officeDocument/2006/relationships/slide" Target="slides/slide11.xml"/><Relationship Id="rId33"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948C07-33B2-40B2-806E-27BACD24D73E}"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96A341-0214-48AC-BE9F-7C2AF6A81D4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class and point to the course title. Explain that algebra helps scientists describe change, calculate values and test whether a model fits evidence. Ask students to think of one quantity that changes in science or daily life, such as temperature, distance, mass or volume. Link today’s lesson to a UAE context they will see later, then tell them the lesson ends with their own expression and a short check. Transition: ‘Before we start new learning, let’s warm up our calculation and unit skills.’</a:t>
            </a:r>
          </a:p>
          <a:p/>
          <a:p>
            <a:r>
              <a:t>Timing: about 1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20 seconds per question and ask for answers on mini whiteboards. Check the first answer carefully: 3 × 4 + 2 = 14 because multiplication comes before addition. The second answer is 2.5 L. The third answer is that 38°C is a temperature reading. Watch for the common error of treating 2500 mL as 25 L. Ask one student to explain the unit conversion aloud. Transition straight to the WALT and WILF slide.</a:t>
            </a:r>
          </a:p>
          <a:p/>
          <a:p>
            <a:r>
              <a:t>Teacher: Answer individually, then hold up boards.</a:t>
            </a:r>
          </a:p>
          <a:p/>
          <a:p>
            <a:r>
              <a:t>Ask: Which operation do you do first?</a:t>
            </a:r>
          </a:p>
          <a:p/>
          <a:p>
            <a:r>
              <a:t>Support: Work with a partner and use a calculator only for checking.</a:t>
            </a:r>
          </a:p>
          <a:p/>
          <a:p>
            <a:r>
              <a:t>Stretch: Explain why 2500 mL becomes 2.5 L, not 25 L.</a:t>
            </a:r>
          </a:p>
          <a:p/>
          <a:p>
            <a:r>
              <a:t>Timing: about 5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WALT and WILF aloud together. Ask students to turn and tell a partner which target feels easiest and which feels hardest. Keep the focus on three outcomes: name the parts, write an expression, and substitute a value. If students are unsure, rephrase each target in simpler language and point to an example on the board. Success is clear if they can say one variable, one coefficient and one constant by the end. Transition: ‘Now let’s learn the key words.’</a:t>
            </a:r>
          </a:p>
          <a:p/>
          <a:p>
            <a:r>
              <a:t>Ask: Which success criterion feels hardest today?</a:t>
            </a:r>
          </a:p>
          <a:p/>
          <a:p>
            <a:r>
              <a:t>Support: Read each line aloud and underline the key verbs.</a:t>
            </a:r>
          </a:p>
          <a:p/>
          <a:p>
            <a:r>
              <a:t>Stretch: Add one more success criterion of your own.</a:t>
            </a:r>
          </a:p>
          <a:p/>
          <a:p>
            <a:r>
              <a:t>Timing: about 2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vocabulary slide as a quick pre-teach. Ask students to repeat each term and give a simple example. Emphasise that an expression has no equals sign. Use 3b + 5 to separate the parts: 3 is the coefficient because it multiplies b, and 5 is the constant because it stands alone. If students confuse coefficient and constant, ask, ‘What does the number multiply?’ Transition to the variable slide.</a:t>
            </a:r>
          </a:p>
          <a:p/>
          <a:p>
            <a:r>
              <a:t>Ask: What does the coefficient multiply?</a:t>
            </a:r>
          </a:p>
          <a:p/>
          <a:p>
            <a:r>
              <a:t>Support: Match each term to a colour card.</a:t>
            </a:r>
          </a:p>
          <a:p/>
          <a:p>
            <a:r>
              <a:t>Stretch: Write one new science example for each term.</a:t>
            </a:r>
          </a:p>
          <a:p/>
          <a:p>
            <a:r>
              <a:t>Timing: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thermometer diagram to show that a variable is a quantity that can change. Ask for another changing quantity in science; accept mass, volume, speed or time. Correct the idea that a variable is only an unknown number. A variable can be any measured quantity that takes different values in different conditions. If students say ‘x’ for everything, remind them that the letter should match the context. Transition: ‘Now let’s separate the parts of an expression.’</a:t>
            </a:r>
          </a:p>
          <a:p/>
          <a:p>
            <a:r>
              <a:t>Ask: What quantity changes in the diagram?</a:t>
            </a:r>
          </a:p>
          <a:p/>
          <a:p>
            <a:r>
              <a:t>Support: Point to the changing number and say it aloud.</a:t>
            </a:r>
          </a:p>
          <a:p/>
          <a:p>
            <a:r>
              <a:t>Stretch: Name two other changing quantities in science.</a:t>
            </a:r>
          </a:p>
          <a:p/>
          <a:p>
            <a:r>
              <a:t>Timing: about 4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expression from left to right. Ask students which part changes, which number multiplies the variable, and which number stays fixed. Focus on 3b + 5 first, then connect to 500h as a science example. A common error is calling every number a coefficient; correct this by asking, ‘What is it multiplying?’ If they struggle, cover the last bullet and return to the example. Transition: ‘Now let’s use a real UAE science example.’</a:t>
            </a:r>
          </a:p>
          <a:p>
            <a:r>
              <a:t>Image placeholder: upload a suitable image in the manual editor. A real illustration was unavailable.</a:t>
            </a:r>
          </a:p>
          <a:p/>
          <a:p>
            <a:r>
              <a:t>Ask: Which number is the constant?</a:t>
            </a:r>
          </a:p>
          <a:p/>
          <a:p>
            <a:r>
              <a:t>Support: Cover the second example until the first is secure.</a:t>
            </a:r>
          </a:p>
          <a:p/>
          <a:p>
            <a:r>
              <a:t>Stretch: Explain why 500 is not the constant.</a:t>
            </a:r>
          </a:p>
          <a:p/>
          <a:p>
            <a:r>
              <a:t>Timing: about 4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four steps slowly. Ask what h represents and what the 500 tells us. Students should see that V = 500h means volume in litres depends on hours. Work through the substitution: 500 × 3 = 1500 L. If learners struggle, use repeated addition: 500 + 500 + 500. Point out that the unit matters, so the answer must include litres. Ask the extension question: ‘What does V = 0 mean here?’ Transition to pair practice.</a:t>
            </a:r>
          </a:p>
          <a:p/>
          <a:p>
            <a:r>
              <a:t>Ask: What does the 500 tell us here?</a:t>
            </a:r>
          </a:p>
          <a:p/>
          <a:p>
            <a:r>
              <a:t>Support: Use repeated addition first.</a:t>
            </a:r>
          </a:p>
          <a:p/>
          <a:p>
            <a:r>
              <a:t>Stretch: Explain what V = 0 means in this context.</a:t>
            </a:r>
          </a:p>
          <a:p/>
          <a:p>
            <a:r>
              <a:t>Visual suggestion: A desalination plant tank filling with an arrow labelled 500 L per hour, a clock showing 3 h, and the chain V = 500h leading to 1500 L.</a:t>
            </a:r>
          </a:p>
          <a:p/>
          <a:p>
            <a:r>
              <a:t>Timing: about 6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students in pairs and tell them to complete both tasks. One partner writes, the other checks the variable, coefficient and constant. Expected answers: d = 55t and m = 4x + 10. In the second expression, 4 is the coefficient and 10 is the constant. If learners need support, give sentence stems such as ‘The variable is…’ and ‘The coefficient is…’. Keep them moving quickly so they have time to compare answers before the next slide.</a:t>
            </a:r>
          </a:p>
          <a:p/>
          <a:p>
            <a:r>
              <a:t>Teacher: Use think-pair-share.</a:t>
            </a:r>
          </a:p>
          <a:p/>
          <a:p>
            <a:r>
              <a:t>Ask: Which part is the constant in Task B?</a:t>
            </a:r>
          </a:p>
          <a:p/>
          <a:p>
            <a:r>
              <a:t>Support: Use sentence stems: ‘The variable is…’.</a:t>
            </a:r>
          </a:p>
          <a:p/>
          <a:p>
            <a:r>
              <a:t>Stretch: Invent a new context and expression.</a:t>
            </a:r>
          </a:p>
          <a:p/>
          <a:p>
            <a:r>
              <a:t>Timing: about 5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substitution as a routine: replace, then calculate. Ask what would happen if students added before multiplying. Reinforce that the coefficient stays with the variable until after substitution. Work through m = 4x + 10 with x = 5: 4(5) + 10 = 30. Keep the working written on every line. If students get 60, they have added too early. Transition to the two worked checks.</a:t>
            </a:r>
          </a:p>
          <a:p>
            <a:r>
              <a:t>Image placeholder: upload a suitable image in the manual editor. A real illustration was unavailable.</a:t>
            </a:r>
          </a:p>
          <a:p/>
          <a:p>
            <a:r>
              <a:t>Ask: What happens if you add before multiplying?</a:t>
            </a:r>
          </a:p>
          <a:p/>
          <a:p>
            <a:r>
              <a:t>Support: Follow one step at a time with the example.</a:t>
            </a:r>
          </a:p>
          <a:p/>
          <a:p>
            <a:r>
              <a:t>Stretch: Try x = 7 and calculate it.</a:t>
            </a:r>
          </a:p>
          <a:p/>
          <a:p>
            <a:r>
              <a:t>Timing: about 3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solve each example on their boards before you reveal the answer. Example 1 gives 2000 L. Example 2 gives 15. Emphasise that the 3 in P = 2n + 3 is a constant baseline, not linked to n. If students struggle, hide the units first and calculate the numbers, then add the unit back in. Ask, ‘How do we know the answer is reasonable?’ Transition to the exit ticket.</a:t>
            </a:r>
          </a:p>
          <a:p/>
          <a:p>
            <a:r>
              <a:t>Ask: Why is the 3 not a coefficient?</a:t>
            </a:r>
          </a:p>
          <a:p/>
          <a:p>
            <a:r>
              <a:t>Support: Cover the second example until the first is secure.</a:t>
            </a:r>
          </a:p>
          <a:p/>
          <a:p>
            <a:r>
              <a:t>Stretch: Explain the role of the fixed number 3.</a:t>
            </a:r>
          </a:p>
          <a:p/>
          <a:p>
            <a:r>
              <a:t>Visual suggestion: Two side-by-side calculation chains showing substitution in science expressions: V = 500h with h = 4, and P = 2n + 3 with n = 6.</a:t>
            </a:r>
          </a:p>
          <a:p/>
          <a:p>
            <a:r>
              <a:t>Timing: about 5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independently first, then check quietly with a partner if time allows. Expected answers: coefficient 6, variable t, constant 9. For evaluation, 6(2) + 9 = 21. If they mislabel 9 as a coefficient, return to the question ‘What does it multiply?’ Use the final sentence to test understanding: a constant stays fixed. Collect boards or books before moving on. Transition to homework.</a:t>
            </a:r>
          </a:p>
          <a:p/>
          <a:p>
            <a:r>
              <a:t>Teacher: Answer individually, then check quietly.</a:t>
            </a:r>
          </a:p>
          <a:p/>
          <a:p>
            <a:r>
              <a:t>Ask: Which part stays fixed in 6t + 9?</a:t>
            </a:r>
          </a:p>
          <a:p/>
          <a:p>
            <a:r>
              <a:t>Support: Read one question at a time and circle key words.</a:t>
            </a:r>
          </a:p>
          <a:p/>
          <a:p>
            <a:r>
              <a:t>Stretch: Explain why 6 is not the variable.</a:t>
            </a:r>
          </a:p>
          <a:p/>
          <a:p>
            <a:r>
              <a:t>Timing: about 4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homework should use real quantities students can see at home, not invented numbers only. Encourage examples from a water bottle, room temperature, distance to school or electricity use. Remind them to label the variable, coefficient and constant in each expression and evaluate one with a real value. Ask them to bring one example to share next lesson. Finish by praising clear working and neat notation.</a:t>
            </a:r>
          </a:p>
          <a:p/>
          <a:p>
            <a:r>
              <a:t>Ask: Which home quantity could be a variable?</a:t>
            </a:r>
          </a:p>
          <a:p/>
          <a:p>
            <a:r>
              <a:t>Support: Choose everyday quantities you already know.</a:t>
            </a:r>
          </a:p>
          <a:p/>
          <a:p>
            <a:r>
              <a:t>Stretch: Add a second evaluation for a different value.</a:t>
            </a:r>
          </a:p>
          <a:p/>
          <a:p>
            <a:r>
              <a:t>Timing: about 3 min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Home">
  <p:cSld name="Home">
    <p:spTree>
      <p:nvGrpSpPr>
        <p:cNvPr id="1" name="Shape 14"/>
        <p:cNvGrpSpPr/>
        <p:nvPr/>
      </p:nvGrpSpPr>
      <p:grpSpPr>
        <a:xfrm>
          <a:off x="0" y="0"/>
          <a:ext cx="0" cy="0"/>
          <a:chOff x="0" y="0"/>
          <a:chExt cx="0" cy="0"/>
        </a:xfrm>
      </p:grpSpPr>
      <p:sp>
        <p:nvSpPr>
          <p:cNvPr id="15" name="Google Shape;15;p8"/>
          <p:cNvSpPr/>
          <p:nvPr/>
        </p:nvSpPr>
        <p:spPr>
          <a:xfrm>
            <a:off x="1298524" y="0"/>
            <a:ext cx="10883774"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6" name="Google Shape;16;p8"/>
          <p:cNvSpPr/>
          <p:nvPr/>
        </p:nvSpPr>
        <p:spPr>
          <a:xfrm rot="-5400000">
            <a:off x="1072324" y="279124"/>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highlight>
                <a:srgbClr val="000400"/>
              </a:highlight>
              <a:latin typeface="Calibri" panose="020F0502020204030204"/>
              <a:ea typeface="Calibri" panose="020F0502020204030204"/>
              <a:cs typeface="Calibri" panose="020F0502020204030204"/>
              <a:sym typeface="Calibri" panose="020F0502020204030204"/>
            </a:endParaRPr>
          </a:p>
        </p:txBody>
      </p:sp>
      <p:sp>
        <p:nvSpPr>
          <p:cNvPr id="17" name="Google Shape;17;p8"/>
          <p:cNvSpPr txBox="1">
            <a:spLocks noGrp="1"/>
          </p:cNvSpPr>
          <p:nvPr>
            <p:ph type="title"/>
          </p:nvPr>
        </p:nvSpPr>
        <p:spPr>
          <a:xfrm>
            <a:off x="2678100" y="288575"/>
            <a:ext cx="9098100" cy="763500"/>
          </a:xfrm>
          <a:prstGeom prst="rect">
            <a:avLst/>
          </a:prstGeom>
          <a:solidFill>
            <a:schemeClr val="lt1"/>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8" name="Google Shape;18;p8"/>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onday">
  <p:cSld name="Monday">
    <p:spTree>
      <p:nvGrpSpPr>
        <p:cNvPr id="1" name="Shape 19"/>
        <p:cNvGrpSpPr/>
        <p:nvPr/>
      </p:nvGrpSpPr>
      <p:grpSpPr>
        <a:xfrm>
          <a:off x="0" y="0"/>
          <a:ext cx="0" cy="0"/>
          <a:chOff x="0" y="0"/>
          <a:chExt cx="0" cy="0"/>
        </a:xfrm>
      </p:grpSpPr>
      <p:sp>
        <p:nvSpPr>
          <p:cNvPr id="20" name="Google Shape;20;p9"/>
          <p:cNvSpPr/>
          <p:nvPr/>
        </p:nvSpPr>
        <p:spPr>
          <a:xfrm>
            <a:off x="1298526" y="0"/>
            <a:ext cx="10883772"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1" name="Google Shape;21;p9"/>
          <p:cNvSpPr/>
          <p:nvPr/>
        </p:nvSpPr>
        <p:spPr>
          <a:xfrm rot="-5400000">
            <a:off x="1072326" y="881264"/>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2" name="Google Shape;22;p9"/>
          <p:cNvSpPr txBox="1">
            <a:spLocks noGrp="1"/>
          </p:cNvSpPr>
          <p:nvPr>
            <p:ph type="title"/>
          </p:nvPr>
        </p:nvSpPr>
        <p:spPr>
          <a:xfrm>
            <a:off x="2678100" y="288575"/>
            <a:ext cx="9098100" cy="763500"/>
          </a:xfrm>
          <a:prstGeom prst="rect">
            <a:avLst/>
          </a:prstGeom>
          <a:solidFill>
            <a:schemeClr val="dk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23" name="Google Shape;23;p9"/>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Friday">
  <p:cSld name="Friday">
    <p:spTree>
      <p:nvGrpSpPr>
        <p:cNvPr id="1" name="Shape 29"/>
        <p:cNvGrpSpPr/>
        <p:nvPr/>
      </p:nvGrpSpPr>
      <p:grpSpPr>
        <a:xfrm>
          <a:off x="0" y="0"/>
          <a:ext cx="0" cy="0"/>
          <a:chOff x="0" y="0"/>
          <a:chExt cx="0" cy="0"/>
        </a:xfrm>
      </p:grpSpPr>
      <p:sp>
        <p:nvSpPr>
          <p:cNvPr id="30" name="Google Shape;30;p11"/>
          <p:cNvSpPr/>
          <p:nvPr/>
        </p:nvSpPr>
        <p:spPr>
          <a:xfrm>
            <a:off x="1302503" y="0"/>
            <a:ext cx="10879795"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1" name="Google Shape;31;p11"/>
          <p:cNvSpPr/>
          <p:nvPr/>
        </p:nvSpPr>
        <p:spPr>
          <a:xfrm rot="-5400000">
            <a:off x="1076303" y="3321372"/>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2" name="Google Shape;32;p11"/>
          <p:cNvSpPr txBox="1">
            <a:spLocks noGrp="1"/>
          </p:cNvSpPr>
          <p:nvPr>
            <p:ph type="title"/>
          </p:nvPr>
        </p:nvSpPr>
        <p:spPr>
          <a:xfrm>
            <a:off x="2678100" y="288575"/>
            <a:ext cx="9098100" cy="763500"/>
          </a:xfrm>
          <a:prstGeom prst="rect">
            <a:avLst/>
          </a:prstGeom>
          <a:solidFill>
            <a:schemeClr val="accent3"/>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33" name="Google Shape;33;p11"/>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Useful Links">
  <p:cSld name="Useful Links">
    <p:spTree>
      <p:nvGrpSpPr>
        <p:cNvPr id="1" name="Shape 34"/>
        <p:cNvGrpSpPr/>
        <p:nvPr/>
      </p:nvGrpSpPr>
      <p:grpSpPr>
        <a:xfrm>
          <a:off x="0" y="0"/>
          <a:ext cx="0" cy="0"/>
          <a:chOff x="0" y="0"/>
          <a:chExt cx="0" cy="0"/>
        </a:xfrm>
      </p:grpSpPr>
      <p:sp>
        <p:nvSpPr>
          <p:cNvPr id="35" name="Google Shape;35;p12"/>
          <p:cNvSpPr/>
          <p:nvPr/>
        </p:nvSpPr>
        <p:spPr>
          <a:xfrm>
            <a:off x="1302499" y="0"/>
            <a:ext cx="10879799"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6" name="Google Shape;36;p12"/>
          <p:cNvSpPr/>
          <p:nvPr/>
        </p:nvSpPr>
        <p:spPr>
          <a:xfrm rot="-5400000">
            <a:off x="1076299" y="3930748"/>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37" name="Google Shape;37;p12"/>
          <p:cNvSpPr txBox="1">
            <a:spLocks noGrp="1"/>
          </p:cNvSpPr>
          <p:nvPr>
            <p:ph type="title"/>
          </p:nvPr>
        </p:nvSpPr>
        <p:spPr>
          <a:xfrm>
            <a:off x="2678100" y="288575"/>
            <a:ext cx="9098100" cy="763500"/>
          </a:xfrm>
          <a:prstGeom prst="rect">
            <a:avLst/>
          </a:prstGeom>
          <a:solidFill>
            <a:schemeClr val="accent4"/>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ther">
  <p:cSld name="Other">
    <p:spTree>
      <p:nvGrpSpPr>
        <p:cNvPr id="1" name="Shape 38"/>
        <p:cNvGrpSpPr/>
        <p:nvPr/>
      </p:nvGrpSpPr>
      <p:grpSpPr>
        <a:xfrm>
          <a:off x="0" y="0"/>
          <a:ext cx="0" cy="0"/>
          <a:chOff x="0" y="0"/>
          <a:chExt cx="0" cy="0"/>
        </a:xfrm>
      </p:grpSpPr>
      <p:sp>
        <p:nvSpPr>
          <p:cNvPr id="39" name="Google Shape;39;p13"/>
          <p:cNvSpPr/>
          <p:nvPr/>
        </p:nvSpPr>
        <p:spPr>
          <a:xfrm>
            <a:off x="1312028" y="0"/>
            <a:ext cx="1087027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40" name="Google Shape;40;p13"/>
          <p:cNvSpPr/>
          <p:nvPr/>
        </p:nvSpPr>
        <p:spPr>
          <a:xfrm rot="-5400000">
            <a:off x="1085828" y="4534387"/>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41" name="Google Shape;41;p13"/>
          <p:cNvSpPr txBox="1">
            <a:spLocks noGrp="1"/>
          </p:cNvSpPr>
          <p:nvPr>
            <p:ph type="title"/>
          </p:nvPr>
        </p:nvSpPr>
        <p:spPr>
          <a:xfrm>
            <a:off x="2678100" y="288575"/>
            <a:ext cx="9098100" cy="763500"/>
          </a:xfrm>
          <a:prstGeom prst="rect">
            <a:avLst/>
          </a:prstGeom>
          <a:solidFill>
            <a:schemeClr val="accent5"/>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42" name="Google Shape;42;p13"/>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uesday">
  <p:cSld name="Tuesday">
    <p:spTree>
      <p:nvGrpSpPr>
        <p:cNvPr id="1" name="Shape 24"/>
        <p:cNvGrpSpPr/>
        <p:nvPr/>
      </p:nvGrpSpPr>
      <p:grpSpPr>
        <a:xfrm>
          <a:off x="0" y="0"/>
          <a:ext cx="0" cy="0"/>
          <a:chOff x="0" y="0"/>
          <a:chExt cx="0" cy="0"/>
        </a:xfrm>
      </p:grpSpPr>
      <p:sp>
        <p:nvSpPr>
          <p:cNvPr id="25" name="Google Shape;25;p10"/>
          <p:cNvSpPr/>
          <p:nvPr/>
        </p:nvSpPr>
        <p:spPr>
          <a:xfrm>
            <a:off x="1298523" y="29828"/>
            <a:ext cx="10898826"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6" name="Google Shape;26;p10"/>
          <p:cNvSpPr/>
          <p:nvPr/>
        </p:nvSpPr>
        <p:spPr>
          <a:xfrm rot="-5400000">
            <a:off x="1072323" y="1503605"/>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7" name="Google Shape;27;p10"/>
          <p:cNvSpPr txBox="1">
            <a:spLocks noGrp="1"/>
          </p:cNvSpPr>
          <p:nvPr>
            <p:ph type="title"/>
          </p:nvPr>
        </p:nvSpPr>
        <p:spPr>
          <a:xfrm>
            <a:off x="2678100" y="288575"/>
            <a:ext cx="9098100" cy="763500"/>
          </a:xfrm>
          <a:prstGeom prst="rect">
            <a:avLst/>
          </a:prstGeom>
          <a:solidFill>
            <a:schemeClr val="lt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28" name="Google Shape;28;p10"/>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1947026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ednesday">
  <p:cSld name="Wednesday">
    <p:spTree>
      <p:nvGrpSpPr>
        <p:cNvPr id="1" name="Shape 52"/>
        <p:cNvGrpSpPr/>
        <p:nvPr/>
      </p:nvGrpSpPr>
      <p:grpSpPr>
        <a:xfrm>
          <a:off x="0" y="0"/>
          <a:ext cx="0" cy="0"/>
          <a:chOff x="0" y="0"/>
          <a:chExt cx="0" cy="0"/>
        </a:xfrm>
      </p:grpSpPr>
      <p:sp>
        <p:nvSpPr>
          <p:cNvPr id="53" name="Google Shape;53;g389033cd5dc_0_97"/>
          <p:cNvSpPr/>
          <p:nvPr/>
        </p:nvSpPr>
        <p:spPr>
          <a:xfrm>
            <a:off x="1298235" y="0"/>
            <a:ext cx="108840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4" name="Google Shape;54;g389033cd5dc_0_97"/>
          <p:cNvSpPr/>
          <p:nvPr/>
        </p:nvSpPr>
        <p:spPr>
          <a:xfrm rot="-5400000">
            <a:off x="1072035" y="2078260"/>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5" name="Google Shape;55;g389033cd5dc_0_97"/>
          <p:cNvSpPr txBox="1">
            <a:spLocks noGrp="1"/>
          </p:cNvSpPr>
          <p:nvPr>
            <p:ph type="title"/>
          </p:nvPr>
        </p:nvSpPr>
        <p:spPr>
          <a:xfrm>
            <a:off x="2678100" y="288575"/>
            <a:ext cx="9098100" cy="763500"/>
          </a:xfrm>
          <a:prstGeom prst="rect">
            <a:avLst/>
          </a:prstGeom>
          <a:solidFill>
            <a:schemeClr val="accent1"/>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56" name="Google Shape;56;g389033cd5dc_0_97"/>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ursday">
  <p:cSld name="1_Thursday">
    <p:spTree>
      <p:nvGrpSpPr>
        <p:cNvPr id="1" name="Shape 57"/>
        <p:cNvGrpSpPr/>
        <p:nvPr/>
      </p:nvGrpSpPr>
      <p:grpSpPr>
        <a:xfrm>
          <a:off x="0" y="0"/>
          <a:ext cx="0" cy="0"/>
          <a:chOff x="0" y="0"/>
          <a:chExt cx="0" cy="0"/>
        </a:xfrm>
      </p:grpSpPr>
      <p:sp>
        <p:nvSpPr>
          <p:cNvPr id="58" name="Google Shape;58;g389033cd5dc_0_102"/>
          <p:cNvSpPr/>
          <p:nvPr/>
        </p:nvSpPr>
        <p:spPr>
          <a:xfrm>
            <a:off x="1305861" y="0"/>
            <a:ext cx="108765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9" name="Google Shape;59;g389033cd5dc_0_102"/>
          <p:cNvSpPr/>
          <p:nvPr/>
        </p:nvSpPr>
        <p:spPr>
          <a:xfrm rot="-5400000">
            <a:off x="1079661" y="2722689"/>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60" name="Google Shape;60;g389033cd5dc_0_102"/>
          <p:cNvSpPr txBox="1">
            <a:spLocks noGrp="1"/>
          </p:cNvSpPr>
          <p:nvPr>
            <p:ph type="title"/>
          </p:nvPr>
        </p:nvSpPr>
        <p:spPr>
          <a:xfrm>
            <a:off x="2678100" y="288575"/>
            <a:ext cx="9098100" cy="763500"/>
          </a:xfrm>
          <a:prstGeom prst="rect">
            <a:avLst/>
          </a:prstGeom>
          <a:solidFill>
            <a:schemeClr val="accent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61" name="Google Shape;61;g389033cd5dc_0_102"/>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ursday">
  <p:cSld name="1_Thursday">
    <p:spTree>
      <p:nvGrpSpPr>
        <p:cNvPr id="1" name="Shape 57"/>
        <p:cNvGrpSpPr/>
        <p:nvPr/>
      </p:nvGrpSpPr>
      <p:grpSpPr>
        <a:xfrm>
          <a:off x="0" y="0"/>
          <a:ext cx="0" cy="0"/>
          <a:chOff x="0" y="0"/>
          <a:chExt cx="0" cy="0"/>
        </a:xfrm>
      </p:grpSpPr>
      <p:sp>
        <p:nvSpPr>
          <p:cNvPr id="58" name="Google Shape;58;g389033cd5dc_0_102"/>
          <p:cNvSpPr/>
          <p:nvPr/>
        </p:nvSpPr>
        <p:spPr>
          <a:xfrm>
            <a:off x="1305861" y="0"/>
            <a:ext cx="108765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9" name="Google Shape;59;g389033cd5dc_0_102"/>
          <p:cNvSpPr/>
          <p:nvPr/>
        </p:nvSpPr>
        <p:spPr>
          <a:xfrm rot="-5400000">
            <a:off x="1079661" y="2722689"/>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60" name="Google Shape;60;g389033cd5dc_0_102"/>
          <p:cNvSpPr txBox="1">
            <a:spLocks noGrp="1"/>
          </p:cNvSpPr>
          <p:nvPr>
            <p:ph type="title"/>
          </p:nvPr>
        </p:nvSpPr>
        <p:spPr>
          <a:xfrm>
            <a:off x="2678100" y="288575"/>
            <a:ext cx="9098100" cy="763500"/>
          </a:xfrm>
          <a:prstGeom prst="rect">
            <a:avLst/>
          </a:prstGeom>
          <a:solidFill>
            <a:schemeClr val="accent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61" name="Google Shape;61;g389033cd5dc_0_102"/>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ursday">
  <p:cSld name="1_Thursday">
    <p:spTree>
      <p:nvGrpSpPr>
        <p:cNvPr id="1" name="Shape 57"/>
        <p:cNvGrpSpPr/>
        <p:nvPr/>
      </p:nvGrpSpPr>
      <p:grpSpPr>
        <a:xfrm>
          <a:off x="0" y="0"/>
          <a:ext cx="0" cy="0"/>
          <a:chOff x="0" y="0"/>
          <a:chExt cx="0" cy="0"/>
        </a:xfrm>
      </p:grpSpPr>
      <p:sp>
        <p:nvSpPr>
          <p:cNvPr id="58" name="Google Shape;58;g389033cd5dc_0_102"/>
          <p:cNvSpPr/>
          <p:nvPr/>
        </p:nvSpPr>
        <p:spPr>
          <a:xfrm>
            <a:off x="1305861" y="0"/>
            <a:ext cx="108765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9" name="Google Shape;59;g389033cd5dc_0_102"/>
          <p:cNvSpPr/>
          <p:nvPr/>
        </p:nvSpPr>
        <p:spPr>
          <a:xfrm rot="-5400000">
            <a:off x="1079661" y="2722689"/>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60" name="Google Shape;60;g389033cd5dc_0_102"/>
          <p:cNvSpPr txBox="1">
            <a:spLocks noGrp="1"/>
          </p:cNvSpPr>
          <p:nvPr>
            <p:ph type="title"/>
          </p:nvPr>
        </p:nvSpPr>
        <p:spPr>
          <a:xfrm>
            <a:off x="2678100" y="288575"/>
            <a:ext cx="9098100" cy="763500"/>
          </a:xfrm>
          <a:prstGeom prst="rect">
            <a:avLst/>
          </a:prstGeom>
          <a:solidFill>
            <a:schemeClr val="accent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61" name="Google Shape;61;g389033cd5dc_0_102"/>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Home">
  <p:cSld name="Home">
    <p:spTree>
      <p:nvGrpSpPr>
        <p:cNvPr id="1" name="Shape 62"/>
        <p:cNvGrpSpPr/>
        <p:nvPr/>
      </p:nvGrpSpPr>
      <p:grpSpPr>
        <a:xfrm>
          <a:off x="0" y="0"/>
          <a:ext cx="0" cy="0"/>
          <a:chOff x="0" y="0"/>
          <a:chExt cx="0" cy="0"/>
        </a:xfrm>
      </p:grpSpPr>
      <p:sp>
        <p:nvSpPr>
          <p:cNvPr id="63" name="Google Shape;63;g389033cd5dc_0_82"/>
          <p:cNvSpPr/>
          <p:nvPr/>
        </p:nvSpPr>
        <p:spPr>
          <a:xfrm>
            <a:off x="1298524" y="0"/>
            <a:ext cx="108837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64" name="Google Shape;64;g389033cd5dc_0_82"/>
          <p:cNvSpPr/>
          <p:nvPr/>
        </p:nvSpPr>
        <p:spPr>
          <a:xfrm rot="-5400000">
            <a:off x="1072324" y="279124"/>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highlight>
                <a:srgbClr val="000400"/>
              </a:highlight>
              <a:latin typeface="Calibri" panose="020F0502020204030204"/>
              <a:ea typeface="Calibri" panose="020F0502020204030204"/>
              <a:cs typeface="Calibri" panose="020F0502020204030204"/>
              <a:sym typeface="Calibri" panose="020F0502020204030204"/>
            </a:endParaRPr>
          </a:p>
        </p:txBody>
      </p:sp>
      <p:sp>
        <p:nvSpPr>
          <p:cNvPr id="65" name="Google Shape;65;g389033cd5dc_0_82"/>
          <p:cNvSpPr txBox="1">
            <a:spLocks noGrp="1"/>
          </p:cNvSpPr>
          <p:nvPr>
            <p:ph type="title"/>
          </p:nvPr>
        </p:nvSpPr>
        <p:spPr>
          <a:xfrm>
            <a:off x="2678100" y="288575"/>
            <a:ext cx="9098100" cy="763500"/>
          </a:xfrm>
          <a:prstGeom prst="rect">
            <a:avLst/>
          </a:prstGeom>
          <a:solidFill>
            <a:schemeClr val="lt1"/>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66" name="Google Shape;66;g389033cd5dc_0_82"/>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uesday">
  <p:cSld name="Tuesday">
    <p:spTree>
      <p:nvGrpSpPr>
        <p:cNvPr id="1" name="Shape 72"/>
        <p:cNvGrpSpPr/>
        <p:nvPr/>
      </p:nvGrpSpPr>
      <p:grpSpPr>
        <a:xfrm>
          <a:off x="0" y="0"/>
          <a:ext cx="0" cy="0"/>
          <a:chOff x="0" y="0"/>
          <a:chExt cx="0" cy="0"/>
        </a:xfrm>
      </p:grpSpPr>
      <p:sp>
        <p:nvSpPr>
          <p:cNvPr id="73" name="Google Shape;73;g389033cd5dc_0_92"/>
          <p:cNvSpPr/>
          <p:nvPr/>
        </p:nvSpPr>
        <p:spPr>
          <a:xfrm>
            <a:off x="1298523" y="29828"/>
            <a:ext cx="108987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4" name="Google Shape;74;g389033cd5dc_0_92"/>
          <p:cNvSpPr/>
          <p:nvPr/>
        </p:nvSpPr>
        <p:spPr>
          <a:xfrm rot="-5400000">
            <a:off x="1072323" y="1503605"/>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5" name="Google Shape;75;g389033cd5dc_0_92"/>
          <p:cNvSpPr txBox="1">
            <a:spLocks noGrp="1"/>
          </p:cNvSpPr>
          <p:nvPr>
            <p:ph type="title"/>
          </p:nvPr>
        </p:nvSpPr>
        <p:spPr>
          <a:xfrm>
            <a:off x="2678100" y="288575"/>
            <a:ext cx="9098100" cy="763500"/>
          </a:xfrm>
          <a:prstGeom prst="rect">
            <a:avLst/>
          </a:prstGeom>
          <a:solidFill>
            <a:schemeClr val="lt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76" name="Google Shape;76;g389033cd5dc_0_92"/>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riday">
  <p:cSld name="Friday">
    <p:spTree>
      <p:nvGrpSpPr>
        <p:cNvPr id="1" name="Shape 77"/>
        <p:cNvGrpSpPr/>
        <p:nvPr/>
      </p:nvGrpSpPr>
      <p:grpSpPr>
        <a:xfrm>
          <a:off x="0" y="0"/>
          <a:ext cx="0" cy="0"/>
          <a:chOff x="0" y="0"/>
          <a:chExt cx="0" cy="0"/>
        </a:xfrm>
      </p:grpSpPr>
      <p:sp>
        <p:nvSpPr>
          <p:cNvPr id="78" name="Google Shape;78;g389033cd5dc_0_107"/>
          <p:cNvSpPr/>
          <p:nvPr/>
        </p:nvSpPr>
        <p:spPr>
          <a:xfrm>
            <a:off x="1302503" y="0"/>
            <a:ext cx="108798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79" name="Google Shape;79;g389033cd5dc_0_107"/>
          <p:cNvSpPr/>
          <p:nvPr/>
        </p:nvSpPr>
        <p:spPr>
          <a:xfrm rot="-5400000">
            <a:off x="1076303" y="3321372"/>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0" name="Google Shape;80;g389033cd5dc_0_107"/>
          <p:cNvSpPr txBox="1">
            <a:spLocks noGrp="1"/>
          </p:cNvSpPr>
          <p:nvPr>
            <p:ph type="title"/>
          </p:nvPr>
        </p:nvSpPr>
        <p:spPr>
          <a:xfrm>
            <a:off x="2678100" y="288575"/>
            <a:ext cx="9098100" cy="763500"/>
          </a:xfrm>
          <a:prstGeom prst="rect">
            <a:avLst/>
          </a:prstGeom>
          <a:solidFill>
            <a:schemeClr val="accent3"/>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81" name="Google Shape;81;g389033cd5dc_0_107"/>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Useful Links">
  <p:cSld name="Useful Links">
    <p:spTree>
      <p:nvGrpSpPr>
        <p:cNvPr id="1" name="Shape 82"/>
        <p:cNvGrpSpPr/>
        <p:nvPr/>
      </p:nvGrpSpPr>
      <p:grpSpPr>
        <a:xfrm>
          <a:off x="0" y="0"/>
          <a:ext cx="0" cy="0"/>
          <a:chOff x="0" y="0"/>
          <a:chExt cx="0" cy="0"/>
        </a:xfrm>
      </p:grpSpPr>
      <p:sp>
        <p:nvSpPr>
          <p:cNvPr id="83" name="Google Shape;83;g389033cd5dc_0_112"/>
          <p:cNvSpPr/>
          <p:nvPr/>
        </p:nvSpPr>
        <p:spPr>
          <a:xfrm>
            <a:off x="1302499" y="0"/>
            <a:ext cx="108798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4" name="Google Shape;84;g389033cd5dc_0_112"/>
          <p:cNvSpPr/>
          <p:nvPr/>
        </p:nvSpPr>
        <p:spPr>
          <a:xfrm rot="-5400000">
            <a:off x="1076299" y="3930748"/>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5" name="Google Shape;85;g389033cd5dc_0_112"/>
          <p:cNvSpPr txBox="1">
            <a:spLocks noGrp="1"/>
          </p:cNvSpPr>
          <p:nvPr>
            <p:ph type="title"/>
          </p:nvPr>
        </p:nvSpPr>
        <p:spPr>
          <a:xfrm>
            <a:off x="2678100" y="288575"/>
            <a:ext cx="9098100" cy="763500"/>
          </a:xfrm>
          <a:prstGeom prst="rect">
            <a:avLst/>
          </a:prstGeom>
          <a:solidFill>
            <a:schemeClr val="accent4"/>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60895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Home">
  <p:cSld name="Home">
    <p:spTree>
      <p:nvGrpSpPr>
        <p:cNvPr id="1" name="Shape 14"/>
        <p:cNvGrpSpPr/>
        <p:nvPr/>
      </p:nvGrpSpPr>
      <p:grpSpPr>
        <a:xfrm>
          <a:off x="0" y="0"/>
          <a:ext cx="0" cy="0"/>
          <a:chOff x="0" y="0"/>
          <a:chExt cx="0" cy="0"/>
        </a:xfrm>
      </p:grpSpPr>
      <p:sp>
        <p:nvSpPr>
          <p:cNvPr id="15" name="Google Shape;15;p8"/>
          <p:cNvSpPr/>
          <p:nvPr/>
        </p:nvSpPr>
        <p:spPr>
          <a:xfrm>
            <a:off x="1298524" y="0"/>
            <a:ext cx="10883774"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6" name="Google Shape;16;p8"/>
          <p:cNvSpPr/>
          <p:nvPr/>
        </p:nvSpPr>
        <p:spPr>
          <a:xfrm rot="-5400000">
            <a:off x="1072324" y="279124"/>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highlight>
                <a:srgbClr val="000400"/>
              </a:highlight>
              <a:latin typeface="Calibri" panose="020F0502020204030204"/>
              <a:ea typeface="Calibri" panose="020F0502020204030204"/>
              <a:cs typeface="Calibri" panose="020F0502020204030204"/>
              <a:sym typeface="Calibri" panose="020F0502020204030204"/>
            </a:endParaRPr>
          </a:p>
        </p:txBody>
      </p:sp>
      <p:sp>
        <p:nvSpPr>
          <p:cNvPr id="17" name="Google Shape;17;p8"/>
          <p:cNvSpPr txBox="1">
            <a:spLocks noGrp="1"/>
          </p:cNvSpPr>
          <p:nvPr>
            <p:ph type="title"/>
          </p:nvPr>
        </p:nvSpPr>
        <p:spPr>
          <a:xfrm>
            <a:off x="2678100" y="288575"/>
            <a:ext cx="9098100" cy="763500"/>
          </a:xfrm>
          <a:prstGeom prst="rect">
            <a:avLst/>
          </a:prstGeom>
          <a:solidFill>
            <a:schemeClr val="lt1"/>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8" name="Google Shape;18;p8"/>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onday">
  <p:cSld name="Monday">
    <p:spTree>
      <p:nvGrpSpPr>
        <p:cNvPr id="1" name="Shape 19"/>
        <p:cNvGrpSpPr/>
        <p:nvPr/>
      </p:nvGrpSpPr>
      <p:grpSpPr>
        <a:xfrm>
          <a:off x="0" y="0"/>
          <a:ext cx="0" cy="0"/>
          <a:chOff x="0" y="0"/>
          <a:chExt cx="0" cy="0"/>
        </a:xfrm>
      </p:grpSpPr>
      <p:sp>
        <p:nvSpPr>
          <p:cNvPr id="20" name="Google Shape;20;p9"/>
          <p:cNvSpPr/>
          <p:nvPr/>
        </p:nvSpPr>
        <p:spPr>
          <a:xfrm>
            <a:off x="1298526" y="0"/>
            <a:ext cx="10883772"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1" name="Google Shape;21;p9"/>
          <p:cNvSpPr/>
          <p:nvPr/>
        </p:nvSpPr>
        <p:spPr>
          <a:xfrm rot="-5400000">
            <a:off x="1072326" y="881264"/>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2" name="Google Shape;22;p9"/>
          <p:cNvSpPr txBox="1">
            <a:spLocks noGrp="1"/>
          </p:cNvSpPr>
          <p:nvPr>
            <p:ph type="title"/>
          </p:nvPr>
        </p:nvSpPr>
        <p:spPr>
          <a:xfrm>
            <a:off x="2678100" y="288575"/>
            <a:ext cx="9098100" cy="763500"/>
          </a:xfrm>
          <a:prstGeom prst="rect">
            <a:avLst/>
          </a:prstGeom>
          <a:solidFill>
            <a:schemeClr val="dk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23" name="Google Shape;23;p9"/>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onday">
  <p:cSld name="1_Monday">
    <p:spTree>
      <p:nvGrpSpPr>
        <p:cNvPr id="1" name="Shape 19"/>
        <p:cNvGrpSpPr/>
        <p:nvPr/>
      </p:nvGrpSpPr>
      <p:grpSpPr>
        <a:xfrm>
          <a:off x="0" y="0"/>
          <a:ext cx="0" cy="0"/>
          <a:chOff x="0" y="0"/>
          <a:chExt cx="0" cy="0"/>
        </a:xfrm>
      </p:grpSpPr>
      <p:sp>
        <p:nvSpPr>
          <p:cNvPr id="20" name="Google Shape;20;p9"/>
          <p:cNvSpPr/>
          <p:nvPr/>
        </p:nvSpPr>
        <p:spPr>
          <a:xfrm>
            <a:off x="1298526" y="0"/>
            <a:ext cx="10883772"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1" name="Google Shape;21;p9"/>
          <p:cNvSpPr/>
          <p:nvPr/>
        </p:nvSpPr>
        <p:spPr>
          <a:xfrm rot="-5400000">
            <a:off x="1072326" y="881264"/>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2" name="Google Shape;22;p9"/>
          <p:cNvSpPr txBox="1">
            <a:spLocks noGrp="1"/>
          </p:cNvSpPr>
          <p:nvPr>
            <p:ph type="title"/>
          </p:nvPr>
        </p:nvSpPr>
        <p:spPr>
          <a:xfrm>
            <a:off x="2678100" y="288575"/>
            <a:ext cx="9098100" cy="763500"/>
          </a:xfrm>
          <a:prstGeom prst="rect">
            <a:avLst/>
          </a:prstGeom>
          <a:solidFill>
            <a:schemeClr val="dk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23" name="Google Shape;23;p9"/>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uesday">
  <p:cSld name="Tuesday">
    <p:spTree>
      <p:nvGrpSpPr>
        <p:cNvPr id="1" name="Shape 24"/>
        <p:cNvGrpSpPr/>
        <p:nvPr/>
      </p:nvGrpSpPr>
      <p:grpSpPr>
        <a:xfrm>
          <a:off x="0" y="0"/>
          <a:ext cx="0" cy="0"/>
          <a:chOff x="0" y="0"/>
          <a:chExt cx="0" cy="0"/>
        </a:xfrm>
      </p:grpSpPr>
      <p:sp>
        <p:nvSpPr>
          <p:cNvPr id="25" name="Google Shape;25;p10"/>
          <p:cNvSpPr/>
          <p:nvPr/>
        </p:nvSpPr>
        <p:spPr>
          <a:xfrm>
            <a:off x="1298523" y="29828"/>
            <a:ext cx="10898826"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6" name="Google Shape;26;p10"/>
          <p:cNvSpPr/>
          <p:nvPr/>
        </p:nvSpPr>
        <p:spPr>
          <a:xfrm rot="-5400000">
            <a:off x="1072323" y="1503605"/>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7" name="Google Shape;27;p10"/>
          <p:cNvSpPr txBox="1">
            <a:spLocks noGrp="1"/>
          </p:cNvSpPr>
          <p:nvPr>
            <p:ph type="title"/>
          </p:nvPr>
        </p:nvSpPr>
        <p:spPr>
          <a:xfrm>
            <a:off x="2678100" y="288575"/>
            <a:ext cx="9098100" cy="763500"/>
          </a:xfrm>
          <a:prstGeom prst="rect">
            <a:avLst/>
          </a:prstGeom>
          <a:solidFill>
            <a:schemeClr val="lt2"/>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28" name="Google Shape;28;p10"/>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ther">
  <p:cSld name="Other">
    <p:spTree>
      <p:nvGrpSpPr>
        <p:cNvPr id="1" name="Shape 86"/>
        <p:cNvGrpSpPr/>
        <p:nvPr/>
      </p:nvGrpSpPr>
      <p:grpSpPr>
        <a:xfrm>
          <a:off x="0" y="0"/>
          <a:ext cx="0" cy="0"/>
          <a:chOff x="0" y="0"/>
          <a:chExt cx="0" cy="0"/>
        </a:xfrm>
      </p:grpSpPr>
      <p:sp>
        <p:nvSpPr>
          <p:cNvPr id="87" name="Google Shape;87;g389033cd5dc_0_116"/>
          <p:cNvSpPr/>
          <p:nvPr/>
        </p:nvSpPr>
        <p:spPr>
          <a:xfrm>
            <a:off x="1312028" y="0"/>
            <a:ext cx="10870200" cy="6858000"/>
          </a:xfrm>
          <a:prstGeom prst="rect">
            <a:avLst/>
          </a:prstGeom>
          <a:solidFill>
            <a:schemeClr val="dk1"/>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8" name="Google Shape;88;g389033cd5dc_0_116"/>
          <p:cNvSpPr/>
          <p:nvPr/>
        </p:nvSpPr>
        <p:spPr>
          <a:xfrm rot="-5400000">
            <a:off x="1085828" y="4534387"/>
            <a:ext cx="312900" cy="139500"/>
          </a:xfrm>
          <a:prstGeom prst="triangle">
            <a:avLst>
              <a:gd name="adj" fmla="val 50000"/>
            </a:avLst>
          </a:prstGeom>
          <a:solidFill>
            <a:srgbClr val="000400"/>
          </a:solidFill>
          <a:ln>
            <a:noFill/>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9" name="Google Shape;89;g389033cd5dc_0_116"/>
          <p:cNvSpPr txBox="1">
            <a:spLocks noGrp="1"/>
          </p:cNvSpPr>
          <p:nvPr>
            <p:ph type="title"/>
          </p:nvPr>
        </p:nvSpPr>
        <p:spPr>
          <a:xfrm>
            <a:off x="2678100" y="288575"/>
            <a:ext cx="9098100" cy="763500"/>
          </a:xfrm>
          <a:prstGeom prst="rect">
            <a:avLst/>
          </a:prstGeom>
          <a:solidFill>
            <a:schemeClr val="accent5"/>
          </a:solidFill>
          <a:ln>
            <a:noFill/>
          </a:ln>
        </p:spPr>
        <p:txBody>
          <a:bodyPr spcFirstLastPara="1" wrap="square" lIns="121900" tIns="121900" rIns="121900" bIns="1219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FFFFFF"/>
                </a:solidFill>
                <a:latin typeface="Arial" panose="020B0604020202020204"/>
                <a:ea typeface="Arial" panose="020B0604020202020204"/>
                <a:cs typeface="Arial" panose="020B0604020202020204"/>
                <a:sym typeface="Arial" panose="020B0604020202020204"/>
              </a:defRPr>
            </a:lvl9pPr>
          </a:lstStyle>
          <a:p>
            <a:endParaRPr/>
          </a:p>
        </p:txBody>
      </p:sp>
      <p:sp>
        <p:nvSpPr>
          <p:cNvPr id="90" name="Google Shape;90;g389033cd5dc_0_116"/>
          <p:cNvSpPr txBox="1">
            <a:spLocks noGrp="1"/>
          </p:cNvSpPr>
          <p:nvPr>
            <p:ph type="body" idx="1"/>
          </p:nvPr>
        </p:nvSpPr>
        <p:spPr>
          <a:xfrm>
            <a:off x="2668650" y="1318050"/>
            <a:ext cx="9098100" cy="5125800"/>
          </a:xfrm>
          <a:prstGeom prst="rect">
            <a:avLst/>
          </a:prstGeom>
          <a:noFill/>
          <a:ln>
            <a:noFill/>
          </a:ln>
        </p:spPr>
        <p:txBody>
          <a:bodyPr spcFirstLastPara="1" wrap="square" lIns="121900" tIns="121900" rIns="121900" bIns="121900" anchor="t" anchorCtr="0">
            <a:noAutofit/>
          </a:bodyPr>
          <a:lstStyle>
            <a:lvl1pPr marL="457200" marR="0" lvl="0" indent="-355600" algn="l" rtl="0">
              <a:lnSpc>
                <a:spcPct val="100000"/>
              </a:lnSpc>
              <a:spcBef>
                <a:spcPts val="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2100"/>
              </a:spcBef>
              <a:spcAft>
                <a:spcPts val="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2100"/>
              </a:spcBef>
              <a:spcAft>
                <a:spcPts val="2100"/>
              </a:spcAft>
              <a:buClr>
                <a:srgbClr val="000000"/>
              </a:buClr>
              <a:buSzPts val="20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 Id="rId9" Type="http://schemas.openxmlformats.org/officeDocument/2006/relationships/slideLayout" Target="../slideLayouts/slideLayout15.xml"/><Relationship Id="rId1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5"/>
        <p:cNvGrpSpPr/>
        <p:nvPr/>
      </p:nvGrpSpPr>
      <p:grpSpPr>
        <a:xfrm>
          <a:off x="0" y="0"/>
          <a:ext cx="0" cy="0"/>
          <a:chOff x="0" y="0"/>
          <a:chExt cx="0" cy="0"/>
        </a:xfrm>
      </p:grpSpPr>
      <p:sp>
        <p:nvSpPr>
          <p:cNvPr id="6" name="Google Shape;6;p7"/>
          <p:cNvSpPr txBox="1"/>
          <p:nvPr/>
        </p:nvSpPr>
        <p:spPr>
          <a:xfrm>
            <a:off x="0" y="4795"/>
            <a:ext cx="1298284" cy="614889"/>
          </a:xfrm>
          <a:prstGeom prst="rect">
            <a:avLst/>
          </a:prstGeom>
          <a:solidFill>
            <a:srgbClr val="FFCC99"/>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Topic</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 name="Google Shape;7;p7"/>
          <p:cNvSpPr txBox="1"/>
          <p:nvPr/>
        </p:nvSpPr>
        <p:spPr>
          <a:xfrm>
            <a:off x="0" y="623646"/>
            <a:ext cx="1298284" cy="614889"/>
          </a:xfrm>
          <a:prstGeom prst="rect">
            <a:avLst/>
          </a:prstGeom>
          <a:solidFill>
            <a:srgbClr val="F7C3F7"/>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Engage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 name="Google Shape;8;p7"/>
          <p:cNvSpPr txBox="1"/>
          <p:nvPr/>
        </p:nvSpPr>
        <p:spPr>
          <a:xfrm>
            <a:off x="0" y="1234328"/>
            <a:ext cx="1298284" cy="614889"/>
          </a:xfrm>
          <a:prstGeom prst="rect">
            <a:avLst/>
          </a:prstGeom>
          <a:solidFill>
            <a:srgbClr val="C5FBC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Objective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 name="Google Shape;9;p7"/>
          <p:cNvSpPr txBox="1"/>
          <p:nvPr/>
        </p:nvSpPr>
        <p:spPr>
          <a:xfrm>
            <a:off x="-878" y="1848416"/>
            <a:ext cx="1298284" cy="614889"/>
          </a:xfrm>
          <a:prstGeom prst="rect">
            <a:avLst/>
          </a:prstGeom>
          <a:solidFill>
            <a:srgbClr val="CCCCF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Explore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 name="Google Shape;10;p7"/>
          <p:cNvSpPr txBox="1"/>
          <p:nvPr/>
        </p:nvSpPr>
        <p:spPr>
          <a:xfrm>
            <a:off x="690" y="2462731"/>
            <a:ext cx="1298284" cy="614889"/>
          </a:xfrm>
          <a:prstGeom prst="rect">
            <a:avLst/>
          </a:prstGeom>
          <a:solidFill>
            <a:srgbClr val="C9F5F5"/>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Explain</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 name="Google Shape;11;p7"/>
          <p:cNvSpPr txBox="1"/>
          <p:nvPr/>
        </p:nvSpPr>
        <p:spPr>
          <a:xfrm>
            <a:off x="-4664" y="3075280"/>
            <a:ext cx="1298284" cy="614889"/>
          </a:xfrm>
          <a:prstGeom prst="rect">
            <a:avLst/>
          </a:prstGeom>
          <a:solidFill>
            <a:srgbClr val="FFBDBD"/>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50"/>
              <a:buFont typeface="Arial" panose="020B0604020202020204"/>
              <a:buNone/>
            </a:pPr>
            <a:r>
              <a:rPr lang="en-US"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Elaborate</a:t>
            </a:r>
            <a:endParaRPr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 name="Google Shape;12;p7"/>
          <p:cNvSpPr txBox="1"/>
          <p:nvPr/>
        </p:nvSpPr>
        <p:spPr>
          <a:xfrm>
            <a:off x="2048" y="3685161"/>
            <a:ext cx="1298284" cy="614889"/>
          </a:xfrm>
          <a:prstGeom prst="rect">
            <a:avLst/>
          </a:prstGeom>
          <a:solidFill>
            <a:srgbClr val="D2EDCD"/>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50"/>
              <a:buFont typeface="Arial" panose="020B0604020202020204"/>
              <a:buNone/>
            </a:pPr>
            <a:r>
              <a:rPr lang="en-US"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Evaluate</a:t>
            </a:r>
            <a:endParaRPr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13;p7"/>
          <p:cNvSpPr txBox="1"/>
          <p:nvPr/>
        </p:nvSpPr>
        <p:spPr>
          <a:xfrm>
            <a:off x="98" y="4299378"/>
            <a:ext cx="1298284" cy="614889"/>
          </a:xfrm>
          <a:prstGeom prst="rect">
            <a:avLst/>
          </a:prstGeom>
          <a:solidFill>
            <a:srgbClr val="D9E5FA"/>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50"/>
              <a:buFont typeface="Arial" panose="020B0604020202020204"/>
              <a:buNone/>
            </a:pPr>
            <a:r>
              <a:rPr lang="en-US" sz="16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Self-Reflect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57" r:id="rId1"/>
    <p:sldLayoutId id="2147483658" r:id="rId2"/>
    <p:sldLayoutId id="2147483660" r:id="rId3"/>
    <p:sldLayoutId id="2147483661" r:id="rId4"/>
    <p:sldLayoutId id="2147483662" r:id="rId5"/>
    <p:sldLayoutId id="2147483682"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43"/>
        <p:cNvGrpSpPr/>
        <p:nvPr/>
      </p:nvGrpSpPr>
      <p:grpSpPr>
        <a:xfrm>
          <a:off x="0" y="0"/>
          <a:ext cx="0" cy="0"/>
          <a:chOff x="0" y="0"/>
          <a:chExt cx="0" cy="0"/>
        </a:xfrm>
      </p:grpSpPr>
      <p:sp>
        <p:nvSpPr>
          <p:cNvPr id="44" name="Google Shape;44;g389033cd5dc_0_73"/>
          <p:cNvSpPr txBox="1"/>
          <p:nvPr/>
        </p:nvSpPr>
        <p:spPr>
          <a:xfrm>
            <a:off x="0" y="4795"/>
            <a:ext cx="1298400" cy="615000"/>
          </a:xfrm>
          <a:prstGeom prst="rect">
            <a:avLst/>
          </a:prstGeom>
          <a:solidFill>
            <a:srgbClr val="FFCC99"/>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Topic</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 name="Google Shape;45;g389033cd5dc_0_73"/>
          <p:cNvSpPr txBox="1"/>
          <p:nvPr/>
        </p:nvSpPr>
        <p:spPr>
          <a:xfrm>
            <a:off x="0" y="623646"/>
            <a:ext cx="1298400" cy="615000"/>
          </a:xfrm>
          <a:prstGeom prst="rect">
            <a:avLst/>
          </a:prstGeom>
          <a:solidFill>
            <a:srgbClr val="F7C3F7"/>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Engage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 name="Google Shape;46;g389033cd5dc_0_73"/>
          <p:cNvSpPr txBox="1"/>
          <p:nvPr/>
        </p:nvSpPr>
        <p:spPr>
          <a:xfrm>
            <a:off x="0" y="1234328"/>
            <a:ext cx="1298400" cy="615000"/>
          </a:xfrm>
          <a:prstGeom prst="rect">
            <a:avLst/>
          </a:prstGeom>
          <a:solidFill>
            <a:srgbClr val="C5FBC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Objective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 name="Google Shape;47;g389033cd5dc_0_73"/>
          <p:cNvSpPr txBox="1"/>
          <p:nvPr/>
        </p:nvSpPr>
        <p:spPr>
          <a:xfrm>
            <a:off x="-878" y="1848416"/>
            <a:ext cx="1298400" cy="615000"/>
          </a:xfrm>
          <a:prstGeom prst="rect">
            <a:avLst/>
          </a:prstGeom>
          <a:solidFill>
            <a:srgbClr val="CCCCF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Explore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8" name="Google Shape;48;g389033cd5dc_0_73"/>
          <p:cNvSpPr txBox="1"/>
          <p:nvPr/>
        </p:nvSpPr>
        <p:spPr>
          <a:xfrm>
            <a:off x="690" y="2462731"/>
            <a:ext cx="1298400" cy="615000"/>
          </a:xfrm>
          <a:prstGeom prst="rect">
            <a:avLst/>
          </a:prstGeom>
          <a:solidFill>
            <a:srgbClr val="C9F5F5"/>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Explain</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 name="Google Shape;49;g389033cd5dc_0_73"/>
          <p:cNvSpPr txBox="1"/>
          <p:nvPr/>
        </p:nvSpPr>
        <p:spPr>
          <a:xfrm>
            <a:off x="-4664" y="3075280"/>
            <a:ext cx="1298400" cy="615000"/>
          </a:xfrm>
          <a:prstGeom prst="rect">
            <a:avLst/>
          </a:prstGeom>
          <a:solidFill>
            <a:srgbClr val="FFBDBD"/>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50"/>
              <a:buFont typeface="Arial" panose="020B0604020202020204"/>
              <a:buNone/>
            </a:pPr>
            <a:r>
              <a:rPr lang="en-US"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Elaborate</a:t>
            </a:r>
            <a:endParaRPr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 name="Google Shape;50;g389033cd5dc_0_73"/>
          <p:cNvSpPr txBox="1"/>
          <p:nvPr/>
        </p:nvSpPr>
        <p:spPr>
          <a:xfrm>
            <a:off x="2048" y="3685161"/>
            <a:ext cx="1298400" cy="615000"/>
          </a:xfrm>
          <a:prstGeom prst="rect">
            <a:avLst/>
          </a:prstGeom>
          <a:solidFill>
            <a:srgbClr val="D2EDCD"/>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50"/>
              <a:buFont typeface="Arial" panose="020B0604020202020204"/>
              <a:buNone/>
            </a:pPr>
            <a:r>
              <a:rPr lang="en-US"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Evaluate</a:t>
            </a:r>
            <a:endParaRPr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 name="Google Shape;51;g389033cd5dc_0_73"/>
          <p:cNvSpPr txBox="1"/>
          <p:nvPr/>
        </p:nvSpPr>
        <p:spPr>
          <a:xfrm>
            <a:off x="98" y="4299378"/>
            <a:ext cx="1298400" cy="615000"/>
          </a:xfrm>
          <a:prstGeom prst="rect">
            <a:avLst/>
          </a:prstGeom>
          <a:solidFill>
            <a:srgbClr val="D9E5FA"/>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50"/>
              <a:buFont typeface="Arial" panose="020B0604020202020204"/>
              <a:buNone/>
            </a:pPr>
            <a:r>
              <a:rPr lang="en-US" sz="16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Self-Reflect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64" r:id="rId1"/>
    <p:sldLayoutId id="2147483666" r:id="rId2"/>
    <p:sldLayoutId id="2147483667" r:id="rId3"/>
    <p:sldLayoutId id="2147483668" r:id="rId4"/>
    <p:sldLayoutId id="2147483669" r:id="rId5"/>
    <p:sldLayoutId id="2147483671" r:id="rId6"/>
    <p:sldLayoutId id="2147483672" r:id="rId7"/>
    <p:sldLayoutId id="2147483673" r:id="rId8"/>
    <p:sldLayoutId id="214748368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5"/>
        <p:cNvGrpSpPr/>
        <p:nvPr/>
      </p:nvGrpSpPr>
      <p:grpSpPr>
        <a:xfrm>
          <a:off x="0" y="0"/>
          <a:ext cx="0" cy="0"/>
          <a:chOff x="0" y="0"/>
          <a:chExt cx="0" cy="0"/>
        </a:xfrm>
      </p:grpSpPr>
      <p:sp>
        <p:nvSpPr>
          <p:cNvPr id="6" name="Google Shape;6;p7"/>
          <p:cNvSpPr txBox="1"/>
          <p:nvPr/>
        </p:nvSpPr>
        <p:spPr>
          <a:xfrm>
            <a:off x="0" y="4795"/>
            <a:ext cx="1298284" cy="614889"/>
          </a:xfrm>
          <a:prstGeom prst="rect">
            <a:avLst/>
          </a:prstGeom>
          <a:solidFill>
            <a:srgbClr val="FFCC99"/>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Topic</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 name="Google Shape;7;p7"/>
          <p:cNvSpPr txBox="1"/>
          <p:nvPr/>
        </p:nvSpPr>
        <p:spPr>
          <a:xfrm>
            <a:off x="0" y="623646"/>
            <a:ext cx="1298284" cy="614889"/>
          </a:xfrm>
          <a:prstGeom prst="rect">
            <a:avLst/>
          </a:prstGeom>
          <a:solidFill>
            <a:srgbClr val="F7C3F7"/>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Engage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 name="Google Shape;8;p7"/>
          <p:cNvSpPr txBox="1"/>
          <p:nvPr/>
        </p:nvSpPr>
        <p:spPr>
          <a:xfrm>
            <a:off x="0" y="1234328"/>
            <a:ext cx="1298284" cy="614889"/>
          </a:xfrm>
          <a:prstGeom prst="rect">
            <a:avLst/>
          </a:prstGeom>
          <a:solidFill>
            <a:srgbClr val="C5FBC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Objective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 name="Google Shape;9;p7"/>
          <p:cNvSpPr txBox="1"/>
          <p:nvPr/>
        </p:nvSpPr>
        <p:spPr>
          <a:xfrm>
            <a:off x="-878" y="1848416"/>
            <a:ext cx="1298284" cy="614889"/>
          </a:xfrm>
          <a:prstGeom prst="rect">
            <a:avLst/>
          </a:prstGeom>
          <a:solidFill>
            <a:srgbClr val="CCCCF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Explore</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 name="Google Shape;10;p7"/>
          <p:cNvSpPr txBox="1"/>
          <p:nvPr/>
        </p:nvSpPr>
        <p:spPr>
          <a:xfrm>
            <a:off x="690" y="2462731"/>
            <a:ext cx="1298284" cy="614889"/>
          </a:xfrm>
          <a:prstGeom prst="rect">
            <a:avLst/>
          </a:prstGeom>
          <a:solidFill>
            <a:srgbClr val="C9F5F5"/>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Explain</a:t>
            </a:r>
            <a:endParaRPr sz="200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 name="Google Shape;11;p7"/>
          <p:cNvSpPr txBox="1"/>
          <p:nvPr/>
        </p:nvSpPr>
        <p:spPr>
          <a:xfrm>
            <a:off x="-4664" y="3075280"/>
            <a:ext cx="1298284" cy="614889"/>
          </a:xfrm>
          <a:prstGeom prst="rect">
            <a:avLst/>
          </a:prstGeom>
          <a:solidFill>
            <a:srgbClr val="FFBDBD"/>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50"/>
              <a:buFont typeface="Arial" panose="020B0604020202020204"/>
              <a:buNone/>
            </a:pPr>
            <a:r>
              <a:rPr lang="en-US"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Elaborate</a:t>
            </a:r>
            <a:endParaRPr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 name="Google Shape;12;p7"/>
          <p:cNvSpPr txBox="1"/>
          <p:nvPr/>
        </p:nvSpPr>
        <p:spPr>
          <a:xfrm>
            <a:off x="2048" y="3685161"/>
            <a:ext cx="1298284" cy="614889"/>
          </a:xfrm>
          <a:prstGeom prst="rect">
            <a:avLst/>
          </a:prstGeom>
          <a:solidFill>
            <a:srgbClr val="D2EDCD"/>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950"/>
              <a:buFont typeface="Arial" panose="020B0604020202020204"/>
              <a:buNone/>
            </a:pPr>
            <a:r>
              <a:rPr lang="en-US"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Evaluate</a:t>
            </a:r>
            <a:endParaRPr sz="19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13;p7"/>
          <p:cNvSpPr txBox="1"/>
          <p:nvPr/>
        </p:nvSpPr>
        <p:spPr>
          <a:xfrm>
            <a:off x="98" y="4299378"/>
            <a:ext cx="1298284" cy="614889"/>
          </a:xfrm>
          <a:prstGeom prst="rect">
            <a:avLst/>
          </a:prstGeom>
          <a:solidFill>
            <a:srgbClr val="D9E5FA"/>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50"/>
              <a:buFont typeface="Arial" panose="020B0604020202020204"/>
              <a:buNone/>
            </a:pPr>
            <a:r>
              <a:rPr lang="en-US" sz="1650" b="1" i="0" u="none" strike="noStrike" cap="none">
                <a:solidFill>
                  <a:srgbClr val="000400"/>
                </a:solidFill>
                <a:latin typeface="Times New Roman" panose="02020603050405020304"/>
                <a:ea typeface="Times New Roman" panose="02020603050405020304"/>
                <a:cs typeface="Times New Roman" panose="02020603050405020304"/>
                <a:sym typeface="Times New Roman" panose="02020603050405020304"/>
              </a:rPr>
              <a:t>Self-Reflect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jpg"/><Relationship Id="rId3" Type="http://schemas.openxmlformats.org/officeDocument/2006/relationships/notesSlide" Target="../notesSlides/notesSlide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5.jpg"/><Relationship Id="rId3" Type="http://schemas.openxmlformats.org/officeDocument/2006/relationships/notesSlide" Target="../notesSlides/notesSlide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60834AC4-D321-3059-D7B1-A8785B7950FC}"/>
              </a:ext>
            </a:extLst>
          </p:cNvPr>
          <p:cNvSpPr/>
          <p:nvPr/>
        </p:nvSpPr>
        <p:spPr>
          <a:xfrm>
            <a:off x="1293991" y="4518"/>
            <a:ext cx="10898009" cy="637120"/>
          </a:xfrm>
          <a:prstGeom prst="rect">
            <a:avLst/>
          </a:prstGeom>
          <a:solidFill>
            <a:srgbClr val="FFCC99"/>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kumimoji="0" sz="32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1524166" y="3256326"/>
            <a:ext cx="10180154" cy="1569620"/>
          </a:xfrm>
          <a:prstGeom prst="rect">
            <a:avLst/>
          </a:prstGeom>
          <a:noFill/>
        </p:spPr>
        <p:txBody>
          <a:bodyPr wrap="square" lIns="63500" rIns="63500" tIns="38100" bIns="38100" anchor="b">
            <a:noAutofit/>
          </a:bodyPr>
          <a:lstStyle/>
          <a:p>
            <a:pPr marL="0" indent="0" algn="l">
              <a:lnSpc>
                <a:spcPct val="100000"/>
              </a:lnSpc>
              <a:spcAft>
                <a:spcPts val="0"/>
              </a:spcAft>
              <a:buNone/>
            </a:pPr>
            <a:r>
              <a:rPr sz="3200" b="1">
                <a:solidFill>
                  <a:srgbClr val="000000"/>
                </a:solidFill>
                <a:latin typeface="Times New Roman"/>
              </a:rPr>
              <a:t>Variables and Expressions</a:t>
            </a:r>
          </a:p>
        </p:txBody>
      </p:sp>
      <p:sp>
        <p:nvSpPr>
          <p:cNvPr id="6" name="TextBox 5"/>
          <p:cNvSpPr txBox="1"/>
          <p:nvPr/>
        </p:nvSpPr>
        <p:spPr>
          <a:xfrm>
            <a:off x="1429850" y="2189488"/>
            <a:ext cx="10815961" cy="1077178"/>
          </a:xfrm>
          <a:prstGeom prst="rect">
            <a:avLst/>
          </a:prstGeom>
          <a:noFill/>
        </p:spPr>
        <p:txBody>
          <a:bodyPr wrap="square" lIns="63500" rIns="63500" tIns="38100" bIns="38100" anchor="t">
            <a:noAutofit/>
          </a:bodyPr>
          <a:lstStyle/>
          <a:p>
            <a:pPr marL="0" indent="0" algn="l">
              <a:lnSpc>
                <a:spcPct val="100000"/>
              </a:lnSpc>
              <a:spcAft>
                <a:spcPts val="0"/>
              </a:spcAft>
              <a:buNone/>
            </a:pPr>
            <a:r>
              <a:rPr sz="3200" b="0">
                <a:solidFill>
                  <a:srgbClr val="000000"/>
                </a:solidFill>
                <a:latin typeface="Times New Roman"/>
              </a:rPr>
              <a:t>Grade 10 Science • Lesson 1 of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B39CB551-242C-E80A-F642-B5DD0B809CA6}"/>
              </a:ext>
            </a:extLst>
          </p:cNvPr>
          <p:cNvSpPr/>
          <p:nvPr/>
        </p:nvSpPr>
        <p:spPr>
          <a:xfrm>
            <a:off x="1293991" y="25510"/>
            <a:ext cx="10898009" cy="811249"/>
          </a:xfrm>
          <a:prstGeom prst="rect">
            <a:avLst/>
          </a:prstGeom>
          <a:solidFill>
            <a:schemeClr val="accent5">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r>
              <a:rPr lang="en-US" sz="3200">
                <a:solidFill>
                  <a:srgbClr val="000000"/>
                </a:solidFill>
              </a:rPr>
              <a:t/>
            </a:r>
            <a:endParaRPr lang="en-US" sz="3200" b="1"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endParaRPr>
          </a:p>
        </p:txBody>
      </p:sp>
      <p:sp>
        <p:nvSpPr>
          <p:cNvPr id="5" name="TextBox 4"/>
          <p:cNvSpPr txBox="1"/>
          <p:nvPr/>
        </p:nvSpPr>
        <p:spPr>
          <a:xfrm>
            <a:off x="1603326" y="80374"/>
            <a:ext cx="10274172"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Retrieval Check</a:t>
            </a:r>
          </a:p>
        </p:txBody>
      </p:sp>
      <p:sp>
        <p:nvSpPr>
          <p:cNvPr id="6" name="TextBox 5"/>
          <p:cNvSpPr txBox="1"/>
          <p:nvPr/>
        </p:nvSpPr>
        <p:spPr>
          <a:xfrm>
            <a:off x="1603326" y="1028700"/>
            <a:ext cx="10274172" cy="5486400"/>
          </a:xfrm>
          <a:prstGeom prst="rect">
            <a:avLst/>
          </a:prstGeom>
          <a:noFill/>
        </p:spPr>
        <p:txBody>
          <a:bodyPr wrap="square" lIns="63500" rIns="63500" tIns="38100" bIns="38100" anchor="ctr">
            <a:noAutofit/>
          </a:bodyPr>
          <a:lstStyle/>
          <a:p>
            <a:pPr marL="228600" indent="-205740" algn="l">
              <a:lnSpc>
                <a:spcPct val="112000"/>
              </a:lnSpc>
              <a:spcBef>
                <a:spcPts val="0"/>
              </a:spcBef>
              <a:spcAft>
                <a:spcPts val="4200"/>
              </a:spcAft>
              <a:buClr>
                <a:srgbClr val="0000FF"/>
              </a:buClr>
              <a:buFont typeface="Arial"/>
              <a:buChar char="•"/>
            </a:pPr>
            <a:r>
              <a:rPr sz="2800" b="0">
                <a:solidFill>
                  <a:srgbClr val="000000"/>
                </a:solidFill>
                <a:latin typeface="Calibri"/>
              </a:rPr>
              <a:t>Calculate: 3 × 4 + 2</a:t>
            </a:r>
          </a:p>
          <a:p>
            <a:pPr marL="228600" indent="-205740" algn="l">
              <a:lnSpc>
                <a:spcPct val="112000"/>
              </a:lnSpc>
              <a:spcBef>
                <a:spcPts val="0"/>
              </a:spcBef>
              <a:spcAft>
                <a:spcPts val="4200"/>
              </a:spcAft>
              <a:buClr>
                <a:srgbClr val="0000FF"/>
              </a:buClr>
              <a:buFont typeface="Arial"/>
              <a:buChar char="•"/>
            </a:pPr>
            <a:r>
              <a:rPr sz="2800" b="0">
                <a:solidFill>
                  <a:srgbClr val="000000"/>
                </a:solidFill>
                <a:latin typeface="Calibri"/>
              </a:rPr>
              <a:t>Convert: 2500 mL to litres</a:t>
            </a:r>
          </a:p>
          <a:p>
            <a:pPr marL="228600" indent="-205740" algn="l">
              <a:lnSpc>
                <a:spcPct val="112000"/>
              </a:lnSpc>
              <a:spcBef>
                <a:spcPts val="0"/>
              </a:spcBef>
              <a:spcAft>
                <a:spcPts val="4200"/>
              </a:spcAft>
              <a:buClr>
                <a:srgbClr val="0000FF"/>
              </a:buClr>
              <a:buFont typeface="Arial"/>
              <a:buChar char="•"/>
            </a:pPr>
            <a:r>
              <a:rPr sz="2800" b="0">
                <a:solidFill>
                  <a:srgbClr val="000000"/>
                </a:solidFill>
                <a:latin typeface="Calibri"/>
              </a:rPr>
              <a:t>Interpret: What does 38°C show?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EB91F58B-CC33-3641-6989-29218724AA84}"/>
              </a:ext>
            </a:extLst>
          </p:cNvPr>
          <p:cNvSpPr/>
          <p:nvPr/>
        </p:nvSpPr>
        <p:spPr>
          <a:xfrm>
            <a:off x="1293991" y="4517"/>
            <a:ext cx="10898009" cy="811249"/>
          </a:xfrm>
          <a:prstGeom prst="rect">
            <a:avLst/>
          </a:prstGeom>
          <a:solidFill>
            <a:srgbClr val="C5FB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r>
              <a:rPr lang="en-US" sz="3200" dirty="0">
                <a:solidFill>
                  <a:srgbClr val="000000"/>
                </a:solidFill>
                <a:cs typeface="Calibri" panose="020F0502020204030204" pitchFamily="34" charset="0"/>
              </a:rPr>
              <a:t/>
            </a:r>
          </a:p>
        </p:txBody>
      </p:sp>
      <p:sp>
        <p:nvSpPr>
          <p:cNvPr id="5" name="TextBox 4"/>
          <p:cNvSpPr txBox="1"/>
          <p:nvPr/>
        </p:nvSpPr>
        <p:spPr>
          <a:xfrm>
            <a:off x="1603322" y="59381"/>
            <a:ext cx="10289226"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Calibri"/>
              </a:rPr>
              <a:t>WALT and WILF</a:t>
            </a:r>
          </a:p>
        </p:txBody>
      </p:sp>
      <p:sp>
        <p:nvSpPr>
          <p:cNvPr id="6" name="TextBox 5"/>
          <p:cNvSpPr txBox="1"/>
          <p:nvPr/>
        </p:nvSpPr>
        <p:spPr>
          <a:xfrm>
            <a:off x="1603322" y="1028700"/>
            <a:ext cx="10289226" cy="5486400"/>
          </a:xfrm>
          <a:prstGeom prst="rect">
            <a:avLst/>
          </a:prstGeom>
          <a:noFill/>
        </p:spPr>
        <p:txBody>
          <a:bodyPr wrap="square" lIns="63500" rIns="63500" tIns="38100" bIns="38100" anchor="ctr">
            <a:noAutofit/>
          </a:bodyPr>
          <a:lstStyle/>
          <a:p>
            <a:pPr marL="457200" indent="-205740" algn="l">
              <a:lnSpc>
                <a:spcPct val="112000"/>
              </a:lnSpc>
              <a:spcBef>
                <a:spcPts val="0"/>
              </a:spcBef>
              <a:spcAft>
                <a:spcPts val="2480"/>
              </a:spcAft>
              <a:buClr>
                <a:srgbClr val="0000FF"/>
              </a:buClr>
              <a:buFont typeface="Arial"/>
              <a:buChar char="•"/>
            </a:pPr>
            <a:r>
              <a:rPr sz="2800" b="0">
                <a:solidFill>
                  <a:srgbClr val="000000"/>
                </a:solidFill>
                <a:latin typeface="Calibri"/>
              </a:rPr>
              <a:t>WALT identify variables, constants and coefficients.</a:t>
            </a:r>
          </a:p>
          <a:p>
            <a:pPr marL="457200" indent="-205740" algn="l">
              <a:lnSpc>
                <a:spcPct val="112000"/>
              </a:lnSpc>
              <a:spcBef>
                <a:spcPts val="0"/>
              </a:spcBef>
              <a:spcAft>
                <a:spcPts val="2480"/>
              </a:spcAft>
              <a:buClr>
                <a:srgbClr val="0000FF"/>
              </a:buClr>
              <a:buFont typeface="Arial"/>
              <a:buChar char="•"/>
            </a:pPr>
            <a:r>
              <a:rPr sz="2800" b="0">
                <a:solidFill>
                  <a:srgbClr val="000000"/>
                </a:solidFill>
                <a:latin typeface="Calibri"/>
              </a:rPr>
              <a:t>WALT write expressions from science contexts.</a:t>
            </a:r>
          </a:p>
          <a:p>
            <a:pPr marL="457200" indent="-205740" algn="l">
              <a:lnSpc>
                <a:spcPct val="112000"/>
              </a:lnSpc>
              <a:spcBef>
                <a:spcPts val="0"/>
              </a:spcBef>
              <a:spcAft>
                <a:spcPts val="2480"/>
              </a:spcAft>
              <a:buClr>
                <a:srgbClr val="0000FF"/>
              </a:buClr>
              <a:buFont typeface="Arial"/>
              <a:buChar char="•"/>
            </a:pPr>
            <a:r>
              <a:rPr sz="2800" b="0">
                <a:solidFill>
                  <a:srgbClr val="000000"/>
                </a:solidFill>
                <a:latin typeface="Calibri"/>
              </a:rPr>
              <a:t>WALT substitute values and calculate answers.</a:t>
            </a:r>
          </a:p>
          <a:p>
            <a:pPr marL="457200" indent="-205740" algn="l">
              <a:lnSpc>
                <a:spcPct val="112000"/>
              </a:lnSpc>
              <a:spcBef>
                <a:spcPts val="0"/>
              </a:spcBef>
              <a:spcAft>
                <a:spcPts val="2480"/>
              </a:spcAft>
              <a:buClr>
                <a:srgbClr val="0000FF"/>
              </a:buClr>
              <a:buFont typeface="Arial"/>
              <a:buChar char="•"/>
            </a:pPr>
            <a:r>
              <a:rPr sz="2800" b="0">
                <a:solidFill>
                  <a:srgbClr val="000000"/>
                </a:solidFill>
                <a:latin typeface="Calibri"/>
              </a:rPr>
              <a:t>WILF I can name each part correctly.</a:t>
            </a:r>
          </a:p>
          <a:p>
            <a:pPr marL="457200" indent="-205740" algn="l">
              <a:lnSpc>
                <a:spcPct val="112000"/>
              </a:lnSpc>
              <a:spcBef>
                <a:spcPts val="0"/>
              </a:spcBef>
              <a:spcAft>
                <a:spcPts val="2480"/>
              </a:spcAft>
              <a:buClr>
                <a:srgbClr val="0000FF"/>
              </a:buClr>
              <a:buFont typeface="Arial"/>
              <a:buChar char="•"/>
            </a:pPr>
            <a:r>
              <a:rPr sz="2800" b="0">
                <a:solidFill>
                  <a:srgbClr val="000000"/>
                </a:solidFill>
                <a:latin typeface="Calibri"/>
              </a:rPr>
              <a:t>WILF I can write a matching expression.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E231E43B-B80D-40FF-762F-61856BA8186F}"/>
              </a:ext>
            </a:extLst>
          </p:cNvPr>
          <p:cNvSpPr/>
          <p:nvPr/>
        </p:nvSpPr>
        <p:spPr>
          <a:xfrm>
            <a:off x="1293991" y="-43262"/>
            <a:ext cx="10898009" cy="811249"/>
          </a:xfrm>
          <a:prstGeom prst="rect">
            <a:avLst/>
          </a:prstGeom>
          <a:solidFill>
            <a:schemeClr val="tx2">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kumimoji="0" sz="32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1603035" y="54864"/>
            <a:ext cx="102744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Key Vocabulary</a:t>
            </a:r>
          </a:p>
        </p:txBody>
      </p:sp>
      <p:graphicFrame>
        <p:nvGraphicFramePr>
          <p:cNvPr id="6" name="Table 5"/>
          <p:cNvGraphicFramePr>
            <a:graphicFrameLocks noGrp="1"/>
          </p:cNvGraphicFramePr>
          <p:nvPr/>
        </p:nvGraphicFramePr>
        <p:xfrm>
          <a:off x="1603035" y="1028700"/>
          <a:ext cx="10274400" cy="5486400"/>
        </p:xfrm>
        <a:graphic>
          <a:graphicData uri="http://schemas.openxmlformats.org/drawingml/2006/table">
            <a:tbl>
              <a:tblPr firstRow="1" bandRow="0">
                <a:tableStyleId>{5C22544A-7EE6-4342-B048-85BDC9FD1C3A}</a:tableStyleId>
              </a:tblPr>
              <a:tblGrid>
                <a:gridCol w="5137200"/>
                <a:gridCol w="5137200"/>
              </a:tblGrid>
              <a:tr h="914400">
                <a:tc>
                  <a:txBody>
                    <a:bodyPr wrap="square"/>
                    <a:lstStyle/>
                    <a:p>
                      <a:pPr marL="0" indent="0" algn="l">
                        <a:lnSpc>
                          <a:spcPct val="100000"/>
                        </a:lnSpc>
                        <a:spcAft>
                          <a:spcPts val="0"/>
                        </a:spcAft>
                        <a:buNone/>
                      </a:pPr>
                      <a:r>
                        <a:rPr sz="2400" b="1">
                          <a:solidFill>
                            <a:srgbClr val="FFFFFF"/>
                          </a:solidFill>
                          <a:latin typeface="Calibri"/>
                        </a:rPr>
                        <a:t>Term</a:t>
                      </a:r>
                    </a:p>
                  </a:txBody>
                  <a:tcPr marL="76200" marR="76200" marT="38100" marB="38100" anchor="ctr">
                    <a:solidFill>
                      <a:srgbClr val="0000FF"/>
                    </a:solidFill>
                  </a:tcPr>
                </a:tc>
                <a:tc>
                  <a:txBody>
                    <a:bodyPr wrap="square"/>
                    <a:lstStyle/>
                    <a:p>
                      <a:pPr marL="0" indent="0" algn="l">
                        <a:lnSpc>
                          <a:spcPct val="100000"/>
                        </a:lnSpc>
                        <a:spcAft>
                          <a:spcPts val="0"/>
                        </a:spcAft>
                        <a:buNone/>
                      </a:pPr>
                      <a:r>
                        <a:rPr sz="2400" b="1">
                          <a:solidFill>
                            <a:srgbClr val="FFFFFF"/>
                          </a:solidFill>
                          <a:latin typeface="Calibri"/>
                        </a:rPr>
                        <a:t>Meaning</a:t>
                      </a:r>
                    </a:p>
                  </a:txBody>
                  <a:tcPr marL="76200" marR="76200" marT="38100" marB="38100" anchor="ctr">
                    <a:solidFill>
                      <a:srgbClr val="0000FF"/>
                    </a:solidFill>
                  </a:tcPr>
                </a:tc>
              </a:tr>
              <a:tr h="914400">
                <a:tc>
                  <a:txBody>
                    <a:bodyPr wrap="square"/>
                    <a:lstStyle/>
                    <a:p>
                      <a:pPr marL="0" indent="0" algn="l">
                        <a:lnSpc>
                          <a:spcPct val="100000"/>
                        </a:lnSpc>
                        <a:spcAft>
                          <a:spcPts val="0"/>
                        </a:spcAft>
                        <a:buNone/>
                      </a:pPr>
                      <a:r>
                        <a:rPr sz="2400" b="1">
                          <a:solidFill>
                            <a:srgbClr val="111827"/>
                          </a:solidFill>
                          <a:latin typeface="Calibri"/>
                        </a:rPr>
                        <a:t>variable</a:t>
                      </a:r>
                    </a:p>
                  </a:txBody>
                  <a:tcPr marL="76200" marR="76200" marT="38100" marB="38100" anchor="ctr">
                    <a:solidFill>
                      <a:srgbClr val="E5E5F3"/>
                    </a:solidFill>
                  </a:tcPr>
                </a:tc>
                <a:tc>
                  <a:txBody>
                    <a:bodyPr wrap="square"/>
                    <a:lstStyle/>
                    <a:p>
                      <a:pPr marL="0" indent="0" algn="l">
                        <a:lnSpc>
                          <a:spcPct val="100000"/>
                        </a:lnSpc>
                        <a:spcAft>
                          <a:spcPts val="0"/>
                        </a:spcAft>
                        <a:buNone/>
                      </a:pPr>
                      <a:r>
                        <a:rPr sz="2400" b="0">
                          <a:solidFill>
                            <a:srgbClr val="111827"/>
                          </a:solidFill>
                          <a:latin typeface="Calibri"/>
                        </a:rPr>
                        <a:t>A symbol for a quantity that can change.</a:t>
                      </a:r>
                    </a:p>
                  </a:txBody>
                  <a:tcPr marL="76200" marR="76200" marT="38100" marB="38100" anchor="ctr">
                    <a:solidFill>
                      <a:srgbClr val="E5E5F3"/>
                    </a:solidFill>
                  </a:tcPr>
                </a:tc>
              </a:tr>
              <a:tr h="914400">
                <a:tc>
                  <a:txBody>
                    <a:bodyPr wrap="square"/>
                    <a:lstStyle/>
                    <a:p>
                      <a:pPr marL="0" indent="0" algn="l">
                        <a:lnSpc>
                          <a:spcPct val="100000"/>
                        </a:lnSpc>
                        <a:spcAft>
                          <a:spcPts val="0"/>
                        </a:spcAft>
                        <a:buNone/>
                      </a:pPr>
                      <a:r>
                        <a:rPr sz="2400" b="1">
                          <a:solidFill>
                            <a:srgbClr val="111827"/>
                          </a:solidFill>
                          <a:latin typeface="Calibri"/>
                        </a:rPr>
                        <a:t>constant</a:t>
                      </a:r>
                    </a:p>
                  </a:txBody>
                  <a:tcPr marL="76200" marR="76200" marT="38100" marB="38100" anchor="ctr">
                    <a:solidFill>
                      <a:srgbClr val="D0D0F4"/>
                    </a:solidFill>
                  </a:tcPr>
                </a:tc>
                <a:tc>
                  <a:txBody>
                    <a:bodyPr wrap="square"/>
                    <a:lstStyle/>
                    <a:p>
                      <a:pPr marL="0" indent="0" algn="l">
                        <a:lnSpc>
                          <a:spcPct val="100000"/>
                        </a:lnSpc>
                        <a:spcAft>
                          <a:spcPts val="0"/>
                        </a:spcAft>
                        <a:buNone/>
                      </a:pPr>
                      <a:r>
                        <a:rPr sz="2400" b="0">
                          <a:solidFill>
                            <a:srgbClr val="111827"/>
                          </a:solidFill>
                          <a:latin typeface="Calibri"/>
                        </a:rPr>
                        <a:t>A number that stays fixed in one context.</a:t>
                      </a:r>
                    </a:p>
                  </a:txBody>
                  <a:tcPr marL="76200" marR="76200" marT="38100" marB="38100" anchor="ctr">
                    <a:solidFill>
                      <a:srgbClr val="D0D0F4"/>
                    </a:solidFill>
                  </a:tcPr>
                </a:tc>
              </a:tr>
              <a:tr h="914400">
                <a:tc>
                  <a:txBody>
                    <a:bodyPr wrap="square"/>
                    <a:lstStyle/>
                    <a:p>
                      <a:pPr marL="0" indent="0" algn="l">
                        <a:lnSpc>
                          <a:spcPct val="100000"/>
                        </a:lnSpc>
                        <a:spcAft>
                          <a:spcPts val="0"/>
                        </a:spcAft>
                        <a:buNone/>
                      </a:pPr>
                      <a:r>
                        <a:rPr sz="2400" b="1">
                          <a:solidFill>
                            <a:srgbClr val="111827"/>
                          </a:solidFill>
                          <a:latin typeface="Calibri"/>
                        </a:rPr>
                        <a:t>coefficient</a:t>
                      </a:r>
                    </a:p>
                  </a:txBody>
                  <a:tcPr marL="76200" marR="76200" marT="38100" marB="38100" anchor="ctr">
                    <a:solidFill>
                      <a:srgbClr val="E5E5F3"/>
                    </a:solidFill>
                  </a:tcPr>
                </a:tc>
                <a:tc>
                  <a:txBody>
                    <a:bodyPr wrap="square"/>
                    <a:lstStyle/>
                    <a:p>
                      <a:pPr marL="0" indent="0" algn="l">
                        <a:lnSpc>
                          <a:spcPct val="100000"/>
                        </a:lnSpc>
                        <a:spcAft>
                          <a:spcPts val="0"/>
                        </a:spcAft>
                        <a:buNone/>
                      </a:pPr>
                      <a:r>
                        <a:rPr sz="2400" b="0">
                          <a:solidFill>
                            <a:srgbClr val="111827"/>
                          </a:solidFill>
                          <a:latin typeface="Calibri"/>
                        </a:rPr>
                        <a:t>The number multiplying the variable directly.</a:t>
                      </a:r>
                    </a:p>
                  </a:txBody>
                  <a:tcPr marL="76200" marR="76200" marT="38100" marB="38100" anchor="ctr">
                    <a:solidFill>
                      <a:srgbClr val="E5E5F3"/>
                    </a:solidFill>
                  </a:tcPr>
                </a:tc>
              </a:tr>
              <a:tr h="914400">
                <a:tc>
                  <a:txBody>
                    <a:bodyPr wrap="square"/>
                    <a:lstStyle/>
                    <a:p>
                      <a:pPr marL="0" indent="0" algn="l">
                        <a:lnSpc>
                          <a:spcPct val="100000"/>
                        </a:lnSpc>
                        <a:spcAft>
                          <a:spcPts val="0"/>
                        </a:spcAft>
                        <a:buNone/>
                      </a:pPr>
                      <a:r>
                        <a:rPr sz="2400" b="1">
                          <a:solidFill>
                            <a:srgbClr val="111827"/>
                          </a:solidFill>
                          <a:latin typeface="Calibri"/>
                        </a:rPr>
                        <a:t>expression</a:t>
                      </a:r>
                    </a:p>
                  </a:txBody>
                  <a:tcPr marL="76200" marR="76200" marT="38100" marB="38100" anchor="ctr">
                    <a:solidFill>
                      <a:srgbClr val="D0D0F4"/>
                    </a:solidFill>
                  </a:tcPr>
                </a:tc>
                <a:tc>
                  <a:txBody>
                    <a:bodyPr wrap="square"/>
                    <a:lstStyle/>
                    <a:p>
                      <a:pPr marL="0" indent="0" algn="l">
                        <a:lnSpc>
                          <a:spcPct val="100000"/>
                        </a:lnSpc>
                        <a:spcAft>
                          <a:spcPts val="0"/>
                        </a:spcAft>
                        <a:buNone/>
                      </a:pPr>
                      <a:r>
                        <a:rPr sz="2400" b="0">
                          <a:solidFill>
                            <a:srgbClr val="111827"/>
                          </a:solidFill>
                          <a:latin typeface="Calibri"/>
                        </a:rPr>
                        <a:t>A calculation with variables, numbers and operations.</a:t>
                      </a:r>
                    </a:p>
                  </a:txBody>
                  <a:tcPr marL="76200" marR="76200" marT="38100" marB="38100" anchor="ctr">
                    <a:solidFill>
                      <a:srgbClr val="D0D0F4"/>
                    </a:solidFill>
                  </a:tcPr>
                </a:tc>
              </a:tr>
              <a:tr h="914400">
                <a:tc>
                  <a:txBody>
                    <a:bodyPr wrap="square"/>
                    <a:lstStyle/>
                    <a:p>
                      <a:pPr marL="0" indent="0" algn="l">
                        <a:lnSpc>
                          <a:spcPct val="100000"/>
                        </a:lnSpc>
                        <a:spcAft>
                          <a:spcPts val="0"/>
                        </a:spcAft>
                        <a:buNone/>
                      </a:pPr>
                      <a:r>
                        <a:rPr sz="2400" b="1">
                          <a:solidFill>
                            <a:srgbClr val="111827"/>
                          </a:solidFill>
                          <a:latin typeface="Calibri"/>
                        </a:rPr>
                        <a:t>substitute</a:t>
                      </a:r>
                    </a:p>
                  </a:txBody>
                  <a:tcPr marL="76200" marR="76200" marT="38100" marB="38100" anchor="ctr">
                    <a:solidFill>
                      <a:srgbClr val="E5E5F3"/>
                    </a:solidFill>
                  </a:tcPr>
                </a:tc>
                <a:tc>
                  <a:txBody>
                    <a:bodyPr wrap="square"/>
                    <a:lstStyle/>
                    <a:p>
                      <a:pPr marL="0" indent="0" algn="l">
                        <a:lnSpc>
                          <a:spcPct val="100000"/>
                        </a:lnSpc>
                        <a:spcAft>
                          <a:spcPts val="0"/>
                        </a:spcAft>
                        <a:buNone/>
                      </a:pPr>
                      <a:r>
                        <a:rPr sz="2400" b="0">
                          <a:solidFill>
                            <a:srgbClr val="111827"/>
                          </a:solidFill>
                          <a:latin typeface="Calibri"/>
                        </a:rPr>
                        <a:t>Replace a variable with a given value.</a:t>
                      </a:r>
                    </a:p>
                  </a:txBody>
                  <a:tcPr marL="76200" marR="76200" marT="38100" marB="38100" anchor="ctr">
                    <a:solidFill>
                      <a:srgbClr val="E5E5F3"/>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9192B271-5568-4147-9256-10E6049BA20B}"/>
              </a:ext>
            </a:extLst>
          </p:cNvPr>
          <p:cNvSpPr/>
          <p:nvPr/>
        </p:nvSpPr>
        <p:spPr>
          <a:xfrm>
            <a:off x="1293991" y="-43262"/>
            <a:ext cx="10898009" cy="811249"/>
          </a:xfrm>
          <a:prstGeom prst="rect">
            <a:avLst/>
          </a:prstGeom>
          <a:solidFill>
            <a:schemeClr val="tx2">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kumimoji="0" sz="32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1610660" y="54864"/>
            <a:ext cx="102669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Variables Change</a:t>
            </a:r>
          </a:p>
        </p:txBody>
      </p:sp>
      <p:sp>
        <p:nvSpPr>
          <p:cNvPr id="6" name="TextBox 5"/>
          <p:cNvSpPr txBox="1"/>
          <p:nvPr/>
        </p:nvSpPr>
        <p:spPr>
          <a:xfrm>
            <a:off x="7553244" y="1028700"/>
            <a:ext cx="4324316" cy="5486400"/>
          </a:xfrm>
          <a:prstGeom prst="rect">
            <a:avLst/>
          </a:prstGeom>
          <a:noFill/>
        </p:spPr>
        <p:txBody>
          <a:bodyPr wrap="square" lIns="63500" rIns="63500" tIns="38100" bIns="38100" anchor="ctr">
            <a:noAutofit/>
          </a:bodyPr>
          <a:lstStyle/>
          <a:p>
            <a:pPr marL="457200" indent="-205740" algn="l">
              <a:lnSpc>
                <a:spcPct val="112000"/>
              </a:lnSpc>
              <a:spcBef>
                <a:spcPts val="0"/>
              </a:spcBef>
              <a:spcAft>
                <a:spcPts val="4100"/>
              </a:spcAft>
              <a:buClr>
                <a:srgbClr val="0000FF"/>
              </a:buClr>
              <a:buFont typeface="Arial"/>
              <a:buChar char="•"/>
            </a:pPr>
            <a:r>
              <a:rPr sz="2000" b="0">
                <a:solidFill>
                  <a:srgbClr val="000000"/>
                </a:solidFill>
                <a:latin typeface="Calibri"/>
              </a:rPr>
              <a:t>A variable stands for a quantity that can change.</a:t>
            </a:r>
          </a:p>
          <a:p>
            <a:pPr marL="457200" indent="-205740" algn="l">
              <a:lnSpc>
                <a:spcPct val="112000"/>
              </a:lnSpc>
              <a:spcBef>
                <a:spcPts val="0"/>
              </a:spcBef>
              <a:spcAft>
                <a:spcPts val="4100"/>
              </a:spcAft>
              <a:buClr>
                <a:srgbClr val="0000FF"/>
              </a:buClr>
              <a:buFont typeface="Arial"/>
              <a:buChar char="•"/>
            </a:pPr>
            <a:r>
              <a:rPr sz="2000" b="0">
                <a:solidFill>
                  <a:srgbClr val="000000"/>
                </a:solidFill>
                <a:latin typeface="Calibri"/>
              </a:rPr>
              <a:t>Temperature, volume, mass and time often change in science.</a:t>
            </a:r>
          </a:p>
          <a:p>
            <a:pPr marL="457200" indent="-205740" algn="l">
              <a:lnSpc>
                <a:spcPct val="112000"/>
              </a:lnSpc>
              <a:spcBef>
                <a:spcPts val="0"/>
              </a:spcBef>
              <a:spcAft>
                <a:spcPts val="4100"/>
              </a:spcAft>
              <a:buClr>
                <a:srgbClr val="0000FF"/>
              </a:buClr>
              <a:buFont typeface="Arial"/>
              <a:buChar char="•"/>
            </a:pPr>
            <a:r>
              <a:rPr sz="2000" b="0">
                <a:solidFill>
                  <a:srgbClr val="000000"/>
                </a:solidFill>
                <a:latin typeface="Calibri"/>
              </a:rPr>
              <a:t>Use a letter that matches the context, like T or V.</a:t>
            </a:r>
          </a:p>
          <a:p>
            <a:pPr marL="457200" indent="-205740" algn="l">
              <a:lnSpc>
                <a:spcPct val="112000"/>
              </a:lnSpc>
              <a:spcBef>
                <a:spcPts val="0"/>
              </a:spcBef>
              <a:spcAft>
                <a:spcPts val="4100"/>
              </a:spcAft>
              <a:buClr>
                <a:srgbClr val="0000FF"/>
              </a:buClr>
              <a:buFont typeface="Arial"/>
              <a:buChar char="•"/>
            </a:pPr>
            <a:r>
              <a:rPr sz="2000" b="0">
                <a:solidFill>
                  <a:srgbClr val="000000"/>
                </a:solidFill>
                <a:latin typeface="Calibri"/>
              </a:rPr>
              <a:t>Example: Dubai temperature might be 28°C now and 35°C later.</a:t>
            </a:r>
          </a:p>
        </p:txBody>
      </p:sp>
      <p:pic>
        <p:nvPicPr>
          <p:cNvPr id="7" name="Picture 6" descr="Thermometer showing a temperature rising across the day."/>
          <p:cNvPicPr>
            <a:picLocks noChangeAspect="1"/>
          </p:cNvPicPr>
          <p:nvPr/>
        </p:nvPicPr>
        <p:blipFill>
          <a:blip r:embed="rId2"/>
          <a:stretch>
            <a:fillRect/>
          </a:stretch>
        </p:blipFill>
        <p:spPr>
          <a:xfrm>
            <a:off x="1610660" y="1926449"/>
            <a:ext cx="5503674" cy="369090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E231E43B-B80D-40FF-762F-61856BA8186F}"/>
              </a:ext>
            </a:extLst>
          </p:cNvPr>
          <p:cNvSpPr/>
          <p:nvPr/>
        </p:nvSpPr>
        <p:spPr>
          <a:xfrm>
            <a:off x="1293991" y="-43262"/>
            <a:ext cx="10898009" cy="811249"/>
          </a:xfrm>
          <a:prstGeom prst="rect">
            <a:avLst/>
          </a:prstGeom>
          <a:solidFill>
            <a:schemeClr val="tx2">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kumimoji="0" sz="32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1603035" y="54864"/>
            <a:ext cx="102744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Parts of Expressions</a:t>
            </a:r>
          </a:p>
        </p:txBody>
      </p:sp>
      <p:sp>
        <p:nvSpPr>
          <p:cNvPr id="6" name="TextBox 5"/>
          <p:cNvSpPr txBox="1"/>
          <p:nvPr/>
        </p:nvSpPr>
        <p:spPr>
          <a:xfrm>
            <a:off x="7549819" y="1028700"/>
            <a:ext cx="4327616" cy="5486400"/>
          </a:xfrm>
          <a:prstGeom prst="rect">
            <a:avLst/>
          </a:prstGeom>
          <a:noFill/>
        </p:spPr>
        <p:txBody>
          <a:bodyPr wrap="square" lIns="63500" rIns="63500" tIns="38100" bIns="38100" anchor="ctr">
            <a:noAutofit/>
          </a:bodyPr>
          <a:lstStyle/>
          <a:p>
            <a:pPr marL="457200" indent="-205740" algn="l">
              <a:lnSpc>
                <a:spcPct val="112000"/>
              </a:lnSpc>
              <a:spcBef>
                <a:spcPts val="0"/>
              </a:spcBef>
              <a:spcAft>
                <a:spcPts val="2480"/>
              </a:spcAft>
              <a:buClr>
                <a:srgbClr val="0000FF"/>
              </a:buClr>
              <a:buFont typeface="Arial"/>
              <a:buChar char="•"/>
            </a:pPr>
            <a:r>
              <a:rPr sz="2100" b="0">
                <a:solidFill>
                  <a:srgbClr val="000000"/>
                </a:solidFill>
                <a:latin typeface="Calibri"/>
              </a:rPr>
              <a:t>In 3b + 5, b is the variable and changes.</a:t>
            </a:r>
          </a:p>
          <a:p>
            <a:pPr marL="457200" indent="-205740" algn="l">
              <a:lnSpc>
                <a:spcPct val="112000"/>
              </a:lnSpc>
              <a:spcBef>
                <a:spcPts val="0"/>
              </a:spcBef>
              <a:spcAft>
                <a:spcPts val="2480"/>
              </a:spcAft>
              <a:buClr>
                <a:srgbClr val="0000FF"/>
              </a:buClr>
              <a:buFont typeface="Arial"/>
              <a:buChar char="•"/>
            </a:pPr>
            <a:r>
              <a:rPr sz="2100" b="0">
                <a:solidFill>
                  <a:srgbClr val="000000"/>
                </a:solidFill>
                <a:latin typeface="Calibri"/>
              </a:rPr>
              <a:t>3 is the coefficient because it multiplies b directly.</a:t>
            </a:r>
          </a:p>
          <a:p>
            <a:pPr marL="457200" indent="-205740" algn="l">
              <a:lnSpc>
                <a:spcPct val="112000"/>
              </a:lnSpc>
              <a:spcBef>
                <a:spcPts val="0"/>
              </a:spcBef>
              <a:spcAft>
                <a:spcPts val="2480"/>
              </a:spcAft>
              <a:buClr>
                <a:srgbClr val="0000FF"/>
              </a:buClr>
              <a:buFont typeface="Arial"/>
              <a:buChar char="•"/>
            </a:pPr>
            <a:r>
              <a:rPr sz="2100" b="0">
                <a:solidFill>
                  <a:srgbClr val="000000"/>
                </a:solidFill>
                <a:latin typeface="Calibri"/>
              </a:rPr>
              <a:t>5 is the constant because it stays fixed.</a:t>
            </a:r>
          </a:p>
          <a:p>
            <a:pPr marL="457200" indent="-205740" algn="l">
              <a:lnSpc>
                <a:spcPct val="112000"/>
              </a:lnSpc>
              <a:spcBef>
                <a:spcPts val="0"/>
              </a:spcBef>
              <a:spcAft>
                <a:spcPts val="2480"/>
              </a:spcAft>
              <a:buClr>
                <a:srgbClr val="0000FF"/>
              </a:buClr>
              <a:buFont typeface="Arial"/>
              <a:buChar char="•"/>
            </a:pPr>
            <a:r>
              <a:rPr sz="2100" b="0">
                <a:solidFill>
                  <a:srgbClr val="000000"/>
                </a:solidFill>
                <a:latin typeface="Calibri"/>
              </a:rPr>
              <a:t>An expression combines parts, but has no equals sign.</a:t>
            </a:r>
          </a:p>
          <a:p>
            <a:pPr marL="457200" indent="-205740" algn="l">
              <a:lnSpc>
                <a:spcPct val="112000"/>
              </a:lnSpc>
              <a:spcBef>
                <a:spcPts val="0"/>
              </a:spcBef>
              <a:spcAft>
                <a:spcPts val="2480"/>
              </a:spcAft>
              <a:buClr>
                <a:srgbClr val="0000FF"/>
              </a:buClr>
              <a:buFont typeface="Arial"/>
              <a:buChar char="•"/>
            </a:pPr>
            <a:r>
              <a:rPr sz="2100" b="0">
                <a:solidFill>
                  <a:srgbClr val="000000"/>
                </a:solidFill>
                <a:latin typeface="Calibri"/>
              </a:rPr>
              <a:t>Example: 500h means 500 litres each hour.</a:t>
            </a:r>
          </a:p>
        </p:txBody>
      </p:sp>
      <p:pic>
        <p:nvPicPr>
          <p:cNvPr id="7" name="Picture 6" descr="Expression with labelled coefficient, variable and constant."/>
          <p:cNvPicPr>
            <a:picLocks noChangeAspect="1"/>
          </p:cNvPicPr>
          <p:nvPr/>
        </p:nvPicPr>
        <p:blipFill>
          <a:blip r:embed="rId2"/>
          <a:stretch>
            <a:fillRect/>
          </a:stretch>
        </p:blipFill>
        <p:spPr>
          <a:xfrm>
            <a:off x="1603035" y="1706447"/>
            <a:ext cx="5507874" cy="413090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9192B271-5568-4147-9256-10E6049BA20B}"/>
              </a:ext>
            </a:extLst>
          </p:cNvPr>
          <p:cNvSpPr/>
          <p:nvPr/>
        </p:nvSpPr>
        <p:spPr>
          <a:xfrm>
            <a:off x="1293991" y="-43262"/>
            <a:ext cx="10898009" cy="811249"/>
          </a:xfrm>
          <a:prstGeom prst="rect">
            <a:avLst/>
          </a:prstGeom>
          <a:solidFill>
            <a:schemeClr val="tx2">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kumimoji="0" sz="32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1610660" y="54864"/>
            <a:ext cx="102669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Desalination Model</a:t>
            </a:r>
          </a:p>
        </p:txBody>
      </p:sp>
      <p:sp>
        <p:nvSpPr>
          <p:cNvPr id="6" name="TextBox 5"/>
          <p:cNvSpPr txBox="1"/>
          <p:nvPr/>
        </p:nvSpPr>
        <p:spPr>
          <a:xfrm>
            <a:off x="1610660" y="1028700"/>
            <a:ext cx="10266900" cy="5486400"/>
          </a:xfrm>
          <a:prstGeom prst="rect">
            <a:avLst/>
          </a:prstGeom>
          <a:noFill/>
        </p:spPr>
        <p:txBody>
          <a:bodyPr wrap="square" lIns="63500" rIns="63500" tIns="38100" bIns="38100" anchor="ctr">
            <a:noAutofit/>
          </a:bodyPr>
          <a:lstStyle/>
          <a:p>
            <a:pPr marL="0" indent="0" algn="l">
              <a:lnSpc>
                <a:spcPct val="112000"/>
              </a:lnSpc>
              <a:spcBef>
                <a:spcPts val="0"/>
              </a:spcBef>
              <a:spcAft>
                <a:spcPts val="1800"/>
              </a:spcAft>
              <a:buNone/>
            </a:pPr>
            <a:r>
              <a:rPr sz="2600" b="1">
                <a:solidFill>
                  <a:srgbClr val="0000FF"/>
                </a:solidFill>
                <a:latin typeface="Calibri"/>
              </a:rPr>
              <a:t>1. Find variable</a:t>
            </a:r>
          </a:p>
          <a:p>
            <a:pPr marL="0" indent="0" algn="l">
              <a:lnSpc>
                <a:spcPct val="112000"/>
              </a:lnSpc>
              <a:spcBef>
                <a:spcPts val="0"/>
              </a:spcBef>
              <a:spcAft>
                <a:spcPts val="1800"/>
              </a:spcAft>
              <a:buNone/>
            </a:pPr>
            <a:r>
              <a:rPr sz="2600" b="0">
                <a:solidFill>
                  <a:srgbClr val="000000"/>
                </a:solidFill>
                <a:latin typeface="Calibri"/>
              </a:rPr>
              <a:t>h is the changing number of hours.</a:t>
            </a:r>
          </a:p>
          <a:p>
            <a:pPr marL="0" indent="0" algn="l">
              <a:lnSpc>
                <a:spcPct val="112000"/>
              </a:lnSpc>
              <a:spcBef>
                <a:spcPts val="0"/>
              </a:spcBef>
              <a:spcAft>
                <a:spcPts val="1800"/>
              </a:spcAft>
              <a:buNone/>
            </a:pPr>
            <a:r>
              <a:rPr sz="2600" b="1">
                <a:solidFill>
                  <a:srgbClr val="0000FF"/>
                </a:solidFill>
                <a:latin typeface="Calibri"/>
              </a:rPr>
              <a:t>2. Use rate</a:t>
            </a:r>
          </a:p>
          <a:p>
            <a:pPr marL="0" indent="0" algn="l">
              <a:lnSpc>
                <a:spcPct val="112000"/>
              </a:lnSpc>
              <a:spcBef>
                <a:spcPts val="0"/>
              </a:spcBef>
              <a:spcAft>
                <a:spcPts val="1800"/>
              </a:spcAft>
              <a:buNone/>
            </a:pPr>
            <a:r>
              <a:rPr sz="2600" b="0">
                <a:solidFill>
                  <a:srgbClr val="000000"/>
                </a:solidFill>
                <a:latin typeface="Calibri"/>
              </a:rPr>
              <a:t>The rate is 500 litres each hour.</a:t>
            </a:r>
          </a:p>
          <a:p>
            <a:pPr marL="0" indent="0" algn="l">
              <a:lnSpc>
                <a:spcPct val="112000"/>
              </a:lnSpc>
              <a:spcBef>
                <a:spcPts val="0"/>
              </a:spcBef>
              <a:spcAft>
                <a:spcPts val="1800"/>
              </a:spcAft>
              <a:buNone/>
            </a:pPr>
            <a:r>
              <a:rPr sz="2600" b="1">
                <a:solidFill>
                  <a:srgbClr val="0000FF"/>
                </a:solidFill>
                <a:latin typeface="Calibri"/>
              </a:rPr>
              <a:t>3. Write model</a:t>
            </a:r>
          </a:p>
          <a:p>
            <a:pPr marL="0" indent="0" algn="l">
              <a:lnSpc>
                <a:spcPct val="112000"/>
              </a:lnSpc>
              <a:spcBef>
                <a:spcPts val="0"/>
              </a:spcBef>
              <a:spcAft>
                <a:spcPts val="1800"/>
              </a:spcAft>
              <a:buNone/>
            </a:pPr>
            <a:r>
              <a:rPr sz="2600" b="0">
                <a:solidFill>
                  <a:srgbClr val="000000"/>
                </a:solidFill>
                <a:latin typeface="Calibri"/>
              </a:rPr>
              <a:t>Write V = 500h.</a:t>
            </a:r>
          </a:p>
          <a:p>
            <a:pPr marL="0" indent="0" algn="l">
              <a:lnSpc>
                <a:spcPct val="112000"/>
              </a:lnSpc>
              <a:spcBef>
                <a:spcPts val="0"/>
              </a:spcBef>
              <a:spcAft>
                <a:spcPts val="1800"/>
              </a:spcAft>
              <a:buNone/>
            </a:pPr>
            <a:r>
              <a:rPr sz="2600" b="1">
                <a:solidFill>
                  <a:srgbClr val="0000FF"/>
                </a:solidFill>
                <a:latin typeface="Calibri"/>
              </a:rPr>
              <a:t>4. Substitute</a:t>
            </a:r>
          </a:p>
          <a:p>
            <a:pPr marL="0" indent="0" algn="l">
              <a:lnSpc>
                <a:spcPct val="112000"/>
              </a:lnSpc>
              <a:spcBef>
                <a:spcPts val="0"/>
              </a:spcBef>
              <a:spcAft>
                <a:spcPts val="1800"/>
              </a:spcAft>
              <a:buNone/>
            </a:pPr>
            <a:r>
              <a:rPr sz="2600" b="0">
                <a:solidFill>
                  <a:srgbClr val="000000"/>
                </a:solidFill>
                <a:latin typeface="Calibri"/>
              </a:rPr>
              <a:t>If h = 3, V = 1500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4" name="Google Shape;115;p3">
            <a:extLst>
              <a:ext uri="{FF2B5EF4-FFF2-40B4-BE49-F238E27FC236}">
                <a16:creationId xmlns:a16="http://schemas.microsoft.com/office/drawing/2014/main" id="{F4C09C1B-E608-015D-74DC-2B29FF41A371}"/>
              </a:ext>
            </a:extLst>
          </p:cNvPr>
          <p:cNvSpPr/>
          <p:nvPr/>
        </p:nvSpPr>
        <p:spPr>
          <a:xfrm>
            <a:off x="1293991" y="-63115"/>
            <a:ext cx="10898009" cy="811249"/>
          </a:xfrm>
          <a:prstGeom prst="rect">
            <a:avLst/>
          </a:prstGeom>
          <a:solidFill>
            <a:schemeClr val="accent3">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lang="en-US" sz="3200" b="1" i="0" u="none" strike="noStrike" cap="none" spc="0" normalizeH="0" baseline="0" noProof="0" dirty="0">
              <a:ln>
                <a:noFill/>
              </a:ln>
              <a:solidFill>
                <a:srgbClr val="000000"/>
              </a:solidFill>
              <a:effectLst/>
              <a:uLnTx/>
              <a:uFillTx/>
              <a:latin typeface="Arial" panose="020B0604020202020204"/>
              <a:ea typeface="Arial" panose="020B0604020202020204"/>
              <a:cs typeface="Arial" panose="020B0604020202020204"/>
            </a:endParaRPr>
          </a:p>
        </p:txBody>
      </p:sp>
      <p:sp>
        <p:nvSpPr>
          <p:cNvPr id="5" name="TextBox 4"/>
          <p:cNvSpPr txBox="1"/>
          <p:nvPr/>
        </p:nvSpPr>
        <p:spPr>
          <a:xfrm>
            <a:off x="1607303" y="54864"/>
            <a:ext cx="102702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Write Your Own</a:t>
            </a:r>
          </a:p>
        </p:txBody>
      </p:sp>
      <p:sp>
        <p:nvSpPr>
          <p:cNvPr id="6" name="TextBox 5"/>
          <p:cNvSpPr txBox="1"/>
          <p:nvPr/>
        </p:nvSpPr>
        <p:spPr>
          <a:xfrm>
            <a:off x="1607303" y="1028700"/>
            <a:ext cx="10270200" cy="5486400"/>
          </a:xfrm>
          <a:prstGeom prst="rect">
            <a:avLst/>
          </a:prstGeom>
          <a:noFill/>
        </p:spPr>
        <p:txBody>
          <a:bodyPr wrap="square" lIns="63500" rIns="63500" tIns="38100" bIns="38100" anchor="ctr">
            <a:noAutofit/>
          </a:bodyPr>
          <a:lstStyle/>
          <a:p>
            <a:pPr marL="228600" indent="-205740" algn="l">
              <a:lnSpc>
                <a:spcPct val="112000"/>
              </a:lnSpc>
              <a:spcBef>
                <a:spcPts val="0"/>
              </a:spcBef>
              <a:spcAft>
                <a:spcPts val="4100"/>
              </a:spcAft>
              <a:buClr>
                <a:srgbClr val="0000FF"/>
              </a:buClr>
              <a:buFont typeface="Arial"/>
              <a:buChar char="•"/>
            </a:pPr>
            <a:r>
              <a:rPr sz="2800" b="0">
                <a:solidFill>
                  <a:srgbClr val="000000"/>
                </a:solidFill>
                <a:latin typeface="Calibri"/>
              </a:rPr>
              <a:t>Task A: Write d = 55t for the falcon.</a:t>
            </a:r>
          </a:p>
          <a:p>
            <a:pPr marL="228600" indent="-205740" algn="l">
              <a:lnSpc>
                <a:spcPct val="112000"/>
              </a:lnSpc>
              <a:spcBef>
                <a:spcPts val="0"/>
              </a:spcBef>
              <a:spcAft>
                <a:spcPts val="4100"/>
              </a:spcAft>
              <a:buClr>
                <a:srgbClr val="0000FF"/>
              </a:buClr>
              <a:buFont typeface="Arial"/>
              <a:buChar char="•"/>
            </a:pPr>
            <a:r>
              <a:rPr sz="2800" b="0">
                <a:solidFill>
                  <a:srgbClr val="000000"/>
                </a:solidFill>
                <a:latin typeface="Calibri"/>
              </a:rPr>
              <a:t>Task B: Write m = 4x + 10 for the sample.</a:t>
            </a:r>
          </a:p>
          <a:p>
            <a:pPr marL="228600" indent="-205740" algn="l">
              <a:lnSpc>
                <a:spcPct val="112000"/>
              </a:lnSpc>
              <a:spcBef>
                <a:spcPts val="0"/>
              </a:spcBef>
              <a:spcAft>
                <a:spcPts val="4100"/>
              </a:spcAft>
              <a:buClr>
                <a:srgbClr val="0000FF"/>
              </a:buClr>
              <a:buFont typeface="Arial"/>
              <a:buChar char="•"/>
            </a:pPr>
            <a:r>
              <a:rPr sz="2800" b="0">
                <a:solidFill>
                  <a:srgbClr val="000000"/>
                </a:solidFill>
                <a:latin typeface="Calibri"/>
              </a:rPr>
              <a:t>Check parts: Circle the coefficient and constant.</a:t>
            </a:r>
          </a:p>
          <a:p>
            <a:pPr marL="228600" indent="-205740" algn="l">
              <a:lnSpc>
                <a:spcPct val="112000"/>
              </a:lnSpc>
              <a:spcBef>
                <a:spcPts val="0"/>
              </a:spcBef>
              <a:spcAft>
                <a:spcPts val="4100"/>
              </a:spcAft>
              <a:buClr>
                <a:srgbClr val="0000FF"/>
              </a:buClr>
              <a:buFont typeface="Arial"/>
              <a:buChar char="•"/>
            </a:pPr>
            <a:r>
              <a:rPr sz="2800" b="0">
                <a:solidFill>
                  <a:srgbClr val="000000"/>
                </a:solidFill>
                <a:latin typeface="Calibri"/>
              </a:rPr>
              <a:t>Share: Compare with your partner.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115;p3">
            <a:extLst>
              <a:ext uri="{FF2B5EF4-FFF2-40B4-BE49-F238E27FC236}">
                <a16:creationId xmlns:a16="http://schemas.microsoft.com/office/drawing/2014/main" id="{9192B271-5568-4147-9256-10E6049BA20B}"/>
              </a:ext>
            </a:extLst>
          </p:cNvPr>
          <p:cNvSpPr/>
          <p:nvPr/>
        </p:nvSpPr>
        <p:spPr>
          <a:xfrm>
            <a:off x="1293991" y="-43262"/>
            <a:ext cx="10898009" cy="811249"/>
          </a:xfrm>
          <a:prstGeom prst="rect">
            <a:avLst/>
          </a:prstGeom>
          <a:solidFill>
            <a:schemeClr val="tx2">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kumimoji="0" sz="32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
        <p:nvSpPr>
          <p:cNvPr id="5" name="TextBox 4"/>
          <p:cNvSpPr txBox="1"/>
          <p:nvPr/>
        </p:nvSpPr>
        <p:spPr>
          <a:xfrm>
            <a:off x="1610660" y="54864"/>
            <a:ext cx="102669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Substitution</a:t>
            </a:r>
          </a:p>
        </p:txBody>
      </p:sp>
      <p:sp>
        <p:nvSpPr>
          <p:cNvPr id="6" name="TextBox 5"/>
          <p:cNvSpPr txBox="1"/>
          <p:nvPr/>
        </p:nvSpPr>
        <p:spPr>
          <a:xfrm>
            <a:off x="7553244" y="1028700"/>
            <a:ext cx="4324316" cy="5486400"/>
          </a:xfrm>
          <a:prstGeom prst="rect">
            <a:avLst/>
          </a:prstGeom>
          <a:noFill/>
        </p:spPr>
        <p:txBody>
          <a:bodyPr wrap="square" lIns="63500" rIns="63500" tIns="38100" bIns="38100" anchor="ctr">
            <a:noAutofit/>
          </a:bodyPr>
          <a:lstStyle/>
          <a:p>
            <a:pPr marL="457200" indent="-205740" algn="l">
              <a:lnSpc>
                <a:spcPct val="112000"/>
              </a:lnSpc>
              <a:spcBef>
                <a:spcPts val="0"/>
              </a:spcBef>
              <a:spcAft>
                <a:spcPts val="4100"/>
              </a:spcAft>
              <a:buClr>
                <a:srgbClr val="0000FF"/>
              </a:buClr>
              <a:buFont typeface="Arial"/>
              <a:buChar char="•"/>
            </a:pPr>
            <a:r>
              <a:rPr sz="2200" b="0">
                <a:solidFill>
                  <a:srgbClr val="000000"/>
                </a:solidFill>
                <a:latin typeface="Calibri"/>
              </a:rPr>
              <a:t>Substitution means replacing a variable with a number.</a:t>
            </a:r>
          </a:p>
          <a:p>
            <a:pPr marL="457200" indent="-205740" algn="l">
              <a:lnSpc>
                <a:spcPct val="112000"/>
              </a:lnSpc>
              <a:spcBef>
                <a:spcPts val="0"/>
              </a:spcBef>
              <a:spcAft>
                <a:spcPts val="4100"/>
              </a:spcAft>
              <a:buClr>
                <a:srgbClr val="0000FF"/>
              </a:buClr>
              <a:buFont typeface="Arial"/>
              <a:buChar char="•"/>
            </a:pPr>
            <a:r>
              <a:rPr sz="2200" b="0">
                <a:solidFill>
                  <a:srgbClr val="000000"/>
                </a:solidFill>
                <a:latin typeface="Calibri"/>
              </a:rPr>
              <a:t>Write every step so you do not skip multiplication.</a:t>
            </a:r>
          </a:p>
          <a:p>
            <a:pPr marL="457200" indent="-205740" algn="l">
              <a:lnSpc>
                <a:spcPct val="112000"/>
              </a:lnSpc>
              <a:spcBef>
                <a:spcPts val="0"/>
              </a:spcBef>
              <a:spcAft>
                <a:spcPts val="4100"/>
              </a:spcAft>
              <a:buClr>
                <a:srgbClr val="0000FF"/>
              </a:buClr>
              <a:buFont typeface="Arial"/>
              <a:buChar char="•"/>
            </a:pPr>
            <a:r>
              <a:rPr sz="2200" b="0">
                <a:solidFill>
                  <a:srgbClr val="000000"/>
                </a:solidFill>
                <a:latin typeface="Calibri"/>
              </a:rPr>
              <a:t>Example: m = 4x + 10, with x = 5.</a:t>
            </a:r>
          </a:p>
          <a:p>
            <a:pPr marL="457200" indent="-205740" algn="l">
              <a:lnSpc>
                <a:spcPct val="112000"/>
              </a:lnSpc>
              <a:spcBef>
                <a:spcPts val="0"/>
              </a:spcBef>
              <a:spcAft>
                <a:spcPts val="4100"/>
              </a:spcAft>
              <a:buClr>
                <a:srgbClr val="0000FF"/>
              </a:buClr>
              <a:buFont typeface="Arial"/>
              <a:buChar char="•"/>
            </a:pPr>
            <a:r>
              <a:rPr sz="2200" b="0">
                <a:solidFill>
                  <a:srgbClr val="000000"/>
                </a:solidFill>
                <a:latin typeface="Calibri"/>
              </a:rPr>
              <a:t>Calculate 4(5) + 10 = 30, not 4(15).</a:t>
            </a:r>
          </a:p>
        </p:txBody>
      </p:sp>
      <p:pic>
        <p:nvPicPr>
          <p:cNvPr id="7" name="Picture 6" descr="Step-by-step substitution from an expression to a final answer."/>
          <p:cNvPicPr>
            <a:picLocks noChangeAspect="1"/>
          </p:cNvPicPr>
          <p:nvPr/>
        </p:nvPicPr>
        <p:blipFill>
          <a:blip r:embed="rId2"/>
          <a:stretch>
            <a:fillRect/>
          </a:stretch>
        </p:blipFill>
        <p:spPr>
          <a:xfrm>
            <a:off x="1610660" y="1708022"/>
            <a:ext cx="5503674" cy="412775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4" name="Google Shape;115;p3">
            <a:extLst>
              <a:ext uri="{FF2B5EF4-FFF2-40B4-BE49-F238E27FC236}">
                <a16:creationId xmlns:a16="http://schemas.microsoft.com/office/drawing/2014/main" id="{F4C09C1B-E608-015D-74DC-2B29FF41A371}"/>
              </a:ext>
            </a:extLst>
          </p:cNvPr>
          <p:cNvSpPr/>
          <p:nvPr/>
        </p:nvSpPr>
        <p:spPr>
          <a:xfrm>
            <a:off x="1293991" y="-63115"/>
            <a:ext cx="10898009" cy="811249"/>
          </a:xfrm>
          <a:prstGeom prst="rect">
            <a:avLst/>
          </a:prstGeom>
          <a:solidFill>
            <a:schemeClr val="accent3">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lang="en-US" sz="3200" b="1" i="0" u="none" strike="noStrike" cap="none" spc="0" normalizeH="0" baseline="0" noProof="0" dirty="0">
              <a:ln>
                <a:noFill/>
              </a:ln>
              <a:solidFill>
                <a:srgbClr val="000000"/>
              </a:solidFill>
              <a:effectLst/>
              <a:uLnTx/>
              <a:uFillTx/>
              <a:latin typeface="Arial" panose="020B0604020202020204"/>
              <a:ea typeface="Arial" panose="020B0604020202020204"/>
              <a:cs typeface="Arial" panose="020B0604020202020204"/>
            </a:endParaRPr>
          </a:p>
        </p:txBody>
      </p:sp>
      <p:sp>
        <p:nvSpPr>
          <p:cNvPr id="5" name="TextBox 4"/>
          <p:cNvSpPr txBox="1"/>
          <p:nvPr/>
        </p:nvSpPr>
        <p:spPr>
          <a:xfrm>
            <a:off x="1607303" y="54864"/>
            <a:ext cx="10270200"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Two Checks</a:t>
            </a:r>
          </a:p>
        </p:txBody>
      </p:sp>
      <p:sp>
        <p:nvSpPr>
          <p:cNvPr id="6" name="TextBox 5"/>
          <p:cNvSpPr txBox="1"/>
          <p:nvPr/>
        </p:nvSpPr>
        <p:spPr>
          <a:xfrm>
            <a:off x="1607303" y="1028700"/>
            <a:ext cx="10270200" cy="5486400"/>
          </a:xfrm>
          <a:prstGeom prst="rect">
            <a:avLst/>
          </a:prstGeom>
          <a:noFill/>
        </p:spPr>
        <p:txBody>
          <a:bodyPr wrap="square" lIns="63500" rIns="63500" tIns="38100" bIns="38100" anchor="ctr">
            <a:noAutofit/>
          </a:bodyPr>
          <a:lstStyle/>
          <a:p>
            <a:pPr marL="0" indent="0" algn="l">
              <a:lnSpc>
                <a:spcPct val="112000"/>
              </a:lnSpc>
              <a:spcBef>
                <a:spcPts val="0"/>
              </a:spcBef>
              <a:spcAft>
                <a:spcPts val="1800"/>
              </a:spcAft>
              <a:buNone/>
            </a:pPr>
            <a:r>
              <a:rPr sz="2100" b="1">
                <a:solidFill>
                  <a:srgbClr val="0000FF"/>
                </a:solidFill>
                <a:latin typeface="Calibri"/>
              </a:rPr>
              <a:t>1. Example 1</a:t>
            </a:r>
          </a:p>
          <a:p>
            <a:pPr marL="0" indent="0" algn="l">
              <a:lnSpc>
                <a:spcPct val="112000"/>
              </a:lnSpc>
              <a:spcBef>
                <a:spcPts val="0"/>
              </a:spcBef>
              <a:spcAft>
                <a:spcPts val="1800"/>
              </a:spcAft>
              <a:buNone/>
            </a:pPr>
            <a:r>
              <a:rPr sz="2100" b="0">
                <a:solidFill>
                  <a:srgbClr val="000000"/>
                </a:solidFill>
                <a:latin typeface="Calibri"/>
              </a:rPr>
              <a:t>V = 500h, h = 4.</a:t>
            </a:r>
          </a:p>
          <a:p>
            <a:pPr marL="0" indent="0" algn="l">
              <a:lnSpc>
                <a:spcPct val="112000"/>
              </a:lnSpc>
              <a:spcBef>
                <a:spcPts val="0"/>
              </a:spcBef>
              <a:spcAft>
                <a:spcPts val="1800"/>
              </a:spcAft>
              <a:buNone/>
            </a:pPr>
            <a:r>
              <a:rPr sz="2100" b="1">
                <a:solidFill>
                  <a:srgbClr val="0000FF"/>
                </a:solidFill>
                <a:latin typeface="Calibri"/>
              </a:rPr>
              <a:t>2. Calculate 1</a:t>
            </a:r>
          </a:p>
          <a:p>
            <a:pPr marL="0" indent="0" algn="l">
              <a:lnSpc>
                <a:spcPct val="112000"/>
              </a:lnSpc>
              <a:spcBef>
                <a:spcPts val="0"/>
              </a:spcBef>
              <a:spcAft>
                <a:spcPts val="1800"/>
              </a:spcAft>
              <a:buNone/>
            </a:pPr>
            <a:r>
              <a:rPr sz="2100" b="0">
                <a:solidFill>
                  <a:srgbClr val="000000"/>
                </a:solidFill>
                <a:latin typeface="Calibri"/>
              </a:rPr>
              <a:t>500 × 4 = 2000 L.</a:t>
            </a:r>
          </a:p>
          <a:p>
            <a:pPr marL="0" indent="0" algn="l">
              <a:lnSpc>
                <a:spcPct val="112000"/>
              </a:lnSpc>
              <a:spcBef>
                <a:spcPts val="0"/>
              </a:spcBef>
              <a:spcAft>
                <a:spcPts val="1800"/>
              </a:spcAft>
              <a:buNone/>
            </a:pPr>
            <a:r>
              <a:rPr sz="2100" b="1">
                <a:solidFill>
                  <a:srgbClr val="0000FF"/>
                </a:solidFill>
                <a:latin typeface="Calibri"/>
              </a:rPr>
              <a:t>3. Example 2</a:t>
            </a:r>
          </a:p>
          <a:p>
            <a:pPr marL="0" indent="0" algn="l">
              <a:lnSpc>
                <a:spcPct val="112000"/>
              </a:lnSpc>
              <a:spcBef>
                <a:spcPts val="0"/>
              </a:spcBef>
              <a:spcAft>
                <a:spcPts val="1800"/>
              </a:spcAft>
              <a:buNone/>
            </a:pPr>
            <a:r>
              <a:rPr sz="2100" b="0">
                <a:solidFill>
                  <a:srgbClr val="000000"/>
                </a:solidFill>
                <a:latin typeface="Calibri"/>
              </a:rPr>
              <a:t>P = 2n + 3, n = 6.</a:t>
            </a:r>
          </a:p>
          <a:p>
            <a:pPr marL="0" indent="0" algn="l">
              <a:lnSpc>
                <a:spcPct val="112000"/>
              </a:lnSpc>
              <a:spcBef>
                <a:spcPts val="0"/>
              </a:spcBef>
              <a:spcAft>
                <a:spcPts val="1800"/>
              </a:spcAft>
              <a:buNone/>
            </a:pPr>
            <a:r>
              <a:rPr sz="2100" b="1">
                <a:solidFill>
                  <a:srgbClr val="0000FF"/>
                </a:solidFill>
                <a:latin typeface="Calibri"/>
              </a:rPr>
              <a:t>4. Calculate 2</a:t>
            </a:r>
          </a:p>
          <a:p>
            <a:pPr marL="0" indent="0" algn="l">
              <a:lnSpc>
                <a:spcPct val="112000"/>
              </a:lnSpc>
              <a:spcBef>
                <a:spcPts val="0"/>
              </a:spcBef>
              <a:spcAft>
                <a:spcPts val="1800"/>
              </a:spcAft>
              <a:buNone/>
            </a:pPr>
            <a:r>
              <a:rPr sz="2100" b="0">
                <a:solidFill>
                  <a:srgbClr val="000000"/>
                </a:solidFill>
                <a:latin typeface="Calibri"/>
              </a:rPr>
              <a:t>2 × 6 + 3 = 15.</a:t>
            </a:r>
          </a:p>
          <a:p>
            <a:pPr marL="0" indent="0" algn="l">
              <a:lnSpc>
                <a:spcPct val="112000"/>
              </a:lnSpc>
              <a:spcBef>
                <a:spcPts val="0"/>
              </a:spcBef>
              <a:spcAft>
                <a:spcPts val="1800"/>
              </a:spcAft>
              <a:buNone/>
            </a:pPr>
            <a:r>
              <a:rPr sz="2100" b="1">
                <a:solidFill>
                  <a:srgbClr val="0000FF"/>
                </a:solidFill>
                <a:latin typeface="Calibri"/>
              </a:rPr>
              <a:t>5. Check</a:t>
            </a:r>
          </a:p>
          <a:p>
            <a:pPr marL="0" indent="0" algn="l">
              <a:lnSpc>
                <a:spcPct val="112000"/>
              </a:lnSpc>
              <a:spcBef>
                <a:spcPts val="0"/>
              </a:spcBef>
              <a:spcAft>
                <a:spcPts val="1800"/>
              </a:spcAft>
              <a:buNone/>
            </a:pPr>
            <a:r>
              <a:rPr sz="2100" b="0">
                <a:solidFill>
                  <a:srgbClr val="000000"/>
                </a:solidFill>
                <a:latin typeface="Calibri"/>
              </a:rPr>
              <a:t>3 is a fixed baseline.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Google Shape;115;p3">
            <a:extLst>
              <a:ext uri="{FF2B5EF4-FFF2-40B4-BE49-F238E27FC236}">
                <a16:creationId xmlns:a16="http://schemas.microsoft.com/office/drawing/2014/main" id="{A8712DAB-E832-EE39-F250-DB7894CDC0FC}"/>
              </a:ext>
            </a:extLst>
          </p:cNvPr>
          <p:cNvSpPr/>
          <p:nvPr/>
        </p:nvSpPr>
        <p:spPr>
          <a:xfrm>
            <a:off x="1293991" y="-211"/>
            <a:ext cx="10898009" cy="811249"/>
          </a:xfrm>
          <a:prstGeom prst="rect">
            <a:avLst/>
          </a:prstGeom>
          <a:solidFill>
            <a:schemeClr val="accent6">
              <a:lumMod val="20000"/>
              <a:lumOff val="80000"/>
            </a:schemeClr>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pPr>
            <a:endParaRPr lang="en-US" sz="3200" b="1" i="0" u="none" strike="noStrike" cap="none" spc="0" normalizeH="0" baseline="0" noProof="0" dirty="0">
              <a:ln>
                <a:noFill/>
              </a:ln>
              <a:solidFill>
                <a:srgbClr val="000000"/>
              </a:solidFill>
              <a:effectLst/>
              <a:uLnTx/>
              <a:uFillTx/>
              <a:latin typeface="Arial" panose="020B0604020202020204"/>
              <a:ea typeface="Arial" panose="020B0604020202020204"/>
              <a:cs typeface="Arial" panose="020B0604020202020204"/>
            </a:endParaRPr>
          </a:p>
        </p:txBody>
      </p:sp>
      <p:sp>
        <p:nvSpPr>
          <p:cNvPr id="4" name="TextBox 3"/>
          <p:cNvSpPr txBox="1"/>
          <p:nvPr/>
        </p:nvSpPr>
        <p:spPr>
          <a:xfrm>
            <a:off x="1607299" y="54864"/>
            <a:ext cx="10270199" cy="701521"/>
          </a:xfrm>
          <a:prstGeom prst="rect">
            <a:avLst/>
          </a:prstGeom>
          <a:noFill/>
        </p:spPr>
        <p:txBody>
          <a:bodyPr wrap="square" lIns="63500" rIns="63500" tIns="38100" bIns="38100" anchor="ctr">
            <a:noAutofit/>
          </a:bodyPr>
          <a:lstStyle/>
          <a:p>
            <a:pPr marL="0" indent="0" algn="l">
              <a:lnSpc>
                <a:spcPct val="100000"/>
              </a:lnSpc>
              <a:spcAft>
                <a:spcPts val="0"/>
              </a:spcAft>
              <a:buNone/>
            </a:pPr>
            <a:r>
              <a:rPr sz="3200" b="1">
                <a:solidFill>
                  <a:srgbClr val="000000"/>
                </a:solidFill>
                <a:latin typeface="Arial"/>
              </a:rPr>
              <a:t>Exit Ticket</a:t>
            </a:r>
          </a:p>
        </p:txBody>
      </p:sp>
      <p:sp>
        <p:nvSpPr>
          <p:cNvPr id="5" name="TextBox 4"/>
          <p:cNvSpPr txBox="1"/>
          <p:nvPr/>
        </p:nvSpPr>
        <p:spPr>
          <a:xfrm>
            <a:off x="1607299" y="1028700"/>
            <a:ext cx="10270199" cy="5486400"/>
          </a:xfrm>
          <a:prstGeom prst="rect">
            <a:avLst/>
          </a:prstGeom>
          <a:noFill/>
        </p:spPr>
        <p:txBody>
          <a:bodyPr wrap="square" lIns="63500" rIns="63500" tIns="38100" bIns="38100" anchor="ctr">
            <a:noAutofit/>
          </a:bodyPr>
          <a:lstStyle/>
          <a:p>
            <a:pPr marL="525780" indent="-236601" algn="l">
              <a:lnSpc>
                <a:spcPct val="112000"/>
              </a:lnSpc>
              <a:spcBef>
                <a:spcPts val="0"/>
              </a:spcBef>
              <a:spcAft>
                <a:spcPts val="4200"/>
              </a:spcAft>
              <a:buClr>
                <a:srgbClr val="0000FF"/>
              </a:buClr>
              <a:buFont typeface="Arial"/>
              <a:buChar char="•"/>
            </a:pPr>
            <a:r>
              <a:rPr sz="2800" b="0">
                <a:solidFill>
                  <a:srgbClr val="000000"/>
                </a:solidFill>
                <a:latin typeface="Calibri"/>
              </a:rPr>
              <a:t>In 6t + 9, name the variable, coefficient and constant.</a:t>
            </a:r>
          </a:p>
          <a:p>
            <a:pPr marL="525780" indent="-236601" algn="l">
              <a:lnSpc>
                <a:spcPct val="112000"/>
              </a:lnSpc>
              <a:spcBef>
                <a:spcPts val="0"/>
              </a:spcBef>
              <a:spcAft>
                <a:spcPts val="4200"/>
              </a:spcAft>
              <a:buClr>
                <a:srgbClr val="0000FF"/>
              </a:buClr>
              <a:buFont typeface="Arial"/>
              <a:buChar char="•"/>
            </a:pPr>
            <a:r>
              <a:rPr sz="2800" b="0">
                <a:solidFill>
                  <a:srgbClr val="000000"/>
                </a:solidFill>
                <a:latin typeface="Calibri"/>
              </a:rPr>
              <a:t>Evaluate 6t + 9 when t = 2.</a:t>
            </a:r>
          </a:p>
          <a:p>
            <a:pPr marL="525780" indent="-236601" algn="l">
              <a:lnSpc>
                <a:spcPct val="112000"/>
              </a:lnSpc>
              <a:spcBef>
                <a:spcPts val="0"/>
              </a:spcBef>
              <a:spcAft>
                <a:spcPts val="4200"/>
              </a:spcAft>
              <a:buClr>
                <a:srgbClr val="0000FF"/>
              </a:buClr>
              <a:buFont typeface="Arial"/>
              <a:buChar char="•"/>
            </a:pPr>
            <a:r>
              <a:rPr sz="2800" b="0">
                <a:solidFill>
                  <a:srgbClr val="000000"/>
                </a:solidFill>
                <a:latin typeface="Calibri"/>
              </a:rPr>
              <a:t>Write one sentence: why is 9 a constant?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1"/>
          <p:cNvSpPr/>
          <p:nvPr/>
        </p:nvSpPr>
        <p:spPr>
          <a:xfrm>
            <a:off x="1458950" y="21035"/>
            <a:ext cx="10733049" cy="359965"/>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solidFill>
                <a:srgbClr val="00040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616828" y="435864"/>
            <a:ext cx="10260599" cy="514350"/>
          </a:xfrm>
          <a:prstGeom prst="rect">
            <a:avLst/>
          </a:prstGeom>
          <a:noFill/>
        </p:spPr>
        <p:txBody>
          <a:bodyPr wrap="square" lIns="63500" rIns="63500" tIns="38100" bIns="38100" anchor="ctr">
            <a:noAutofit/>
          </a:bodyPr>
          <a:lstStyle/>
          <a:p>
            <a:pPr marL="0" indent="0" algn="l">
              <a:lnSpc>
                <a:spcPct val="100000"/>
              </a:lnSpc>
              <a:spcAft>
                <a:spcPts val="0"/>
              </a:spcAft>
              <a:buNone/>
            </a:pPr>
            <a:r>
              <a:rPr sz="3000" b="1">
                <a:solidFill>
                  <a:srgbClr val="000000"/>
                </a:solidFill>
                <a:latin typeface="Times New Roman"/>
              </a:rPr>
              <a:t>Homework</a:t>
            </a:r>
          </a:p>
        </p:txBody>
      </p:sp>
      <p:sp>
        <p:nvSpPr>
          <p:cNvPr id="6" name="TextBox 5"/>
          <p:cNvSpPr txBox="1"/>
          <p:nvPr/>
        </p:nvSpPr>
        <p:spPr>
          <a:xfrm>
            <a:off x="1616828" y="1121663"/>
            <a:ext cx="10260599" cy="5393436"/>
          </a:xfrm>
          <a:prstGeom prst="rect">
            <a:avLst/>
          </a:prstGeom>
          <a:noFill/>
        </p:spPr>
        <p:txBody>
          <a:bodyPr wrap="square" lIns="63500" rIns="63500" tIns="38100" bIns="38100" anchor="ctr">
            <a:noAutofit/>
          </a:bodyPr>
          <a:lstStyle/>
          <a:p>
            <a:pPr marL="525780" indent="-236601" algn="l">
              <a:lnSpc>
                <a:spcPct val="112000"/>
              </a:lnSpc>
              <a:spcBef>
                <a:spcPts val="0"/>
              </a:spcBef>
              <a:spcAft>
                <a:spcPts val="4200"/>
              </a:spcAft>
              <a:buClr>
                <a:srgbClr val="0000FF"/>
              </a:buClr>
              <a:buFont typeface="Arial"/>
              <a:buChar char="•"/>
            </a:pPr>
            <a:r>
              <a:rPr sz="2800" b="0">
                <a:solidFill>
                  <a:srgbClr val="000000"/>
                </a:solidFill>
                <a:latin typeface="Calibri"/>
              </a:rPr>
              <a:t>Write three science expressions from home: temperature, volume or distance.</a:t>
            </a:r>
          </a:p>
          <a:p>
            <a:pPr marL="525780" indent="-236601" algn="l">
              <a:lnSpc>
                <a:spcPct val="112000"/>
              </a:lnSpc>
              <a:spcBef>
                <a:spcPts val="0"/>
              </a:spcBef>
              <a:spcAft>
                <a:spcPts val="4200"/>
              </a:spcAft>
              <a:buClr>
                <a:srgbClr val="0000FF"/>
              </a:buClr>
              <a:buFont typeface="Arial"/>
              <a:buChar char="•"/>
            </a:pPr>
            <a:r>
              <a:rPr sz="2800" b="0">
                <a:solidFill>
                  <a:srgbClr val="000000"/>
                </a:solidFill>
                <a:latin typeface="Calibri"/>
              </a:rPr>
              <a:t>Label the variable, coefficient and constant in each.</a:t>
            </a:r>
          </a:p>
          <a:p>
            <a:pPr marL="525780" indent="-236601" algn="l">
              <a:lnSpc>
                <a:spcPct val="112000"/>
              </a:lnSpc>
              <a:spcBef>
                <a:spcPts val="0"/>
              </a:spcBef>
              <a:spcAft>
                <a:spcPts val="4200"/>
              </a:spcAft>
              <a:buClr>
                <a:srgbClr val="0000FF"/>
              </a:buClr>
              <a:buFont typeface="Arial"/>
              <a:buChar char="•"/>
            </a:pPr>
            <a:r>
              <a:rPr sz="2800" b="0">
                <a:solidFill>
                  <a:srgbClr val="000000"/>
                </a:solidFill>
                <a:latin typeface="Calibri"/>
              </a:rPr>
              <a:t>Evaluate one expression with a real value.</a:t>
            </a:r>
          </a:p>
        </p:txBody>
      </p:sp>
    </p:spTree>
  </p:cSld>
  <p:clrMapOvr>
    <a:masterClrMapping/>
  </p:clrMapOvr>
</p:sld>
</file>

<file path=ppt/theme/theme1.xml><?xml version="1.0" encoding="utf-8"?>
<a:theme xmlns:a="http://schemas.openxmlformats.org/drawingml/2006/main" name="1_SlidesMania">
  <a:themeElements>
    <a:clrScheme name="Simple Light">
      <a:dk1>
        <a:srgbClr val="FFFFFF"/>
      </a:dk1>
      <a:lt1>
        <a:srgbClr val="9900FF"/>
      </a:lt1>
      <a:dk2>
        <a:srgbClr val="0000FF"/>
      </a:dk2>
      <a:lt2>
        <a:srgbClr val="4A86E8"/>
      </a:lt2>
      <a:accent1>
        <a:srgbClr val="18B80E"/>
      </a:accent1>
      <a:accent2>
        <a:srgbClr val="FFCB25"/>
      </a:accent2>
      <a:accent3>
        <a:srgbClr val="B40000"/>
      </a:accent3>
      <a:accent4>
        <a:srgbClr val="23A5A5"/>
      </a:accent4>
      <a:accent5>
        <a:srgbClr val="9C189C"/>
      </a:accent5>
      <a:accent6>
        <a:srgbClr val="408332"/>
      </a:accent6>
      <a:hlink>
        <a:srgbClr val="BF9000"/>
      </a:hlink>
      <a:folHlink>
        <a:srgbClr val="0097A7"/>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SlidesMania">
  <a:themeElements>
    <a:clrScheme name="Simple Light">
      <a:dk1>
        <a:srgbClr val="FFFFFF"/>
      </a:dk1>
      <a:lt1>
        <a:srgbClr val="9900FF"/>
      </a:lt1>
      <a:dk2>
        <a:srgbClr val="0000FF"/>
      </a:dk2>
      <a:lt2>
        <a:srgbClr val="4A86E8"/>
      </a:lt2>
      <a:accent1>
        <a:srgbClr val="18B80E"/>
      </a:accent1>
      <a:accent2>
        <a:srgbClr val="FFCB25"/>
      </a:accent2>
      <a:accent3>
        <a:srgbClr val="B40000"/>
      </a:accent3>
      <a:accent4>
        <a:srgbClr val="23A5A5"/>
      </a:accent4>
      <a:accent5>
        <a:srgbClr val="9C189C"/>
      </a:accent5>
      <a:accent6>
        <a:srgbClr val="408332"/>
      </a:accent6>
      <a:hlink>
        <a:srgbClr val="BF9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SlidesMania">
  <a:themeElements>
    <a:clrScheme name="Simple Light">
      <a:dk1>
        <a:srgbClr val="FFFFFF"/>
      </a:dk1>
      <a:lt1>
        <a:srgbClr val="9900FF"/>
      </a:lt1>
      <a:dk2>
        <a:srgbClr val="0000FF"/>
      </a:dk2>
      <a:lt2>
        <a:srgbClr val="4A86E8"/>
      </a:lt2>
      <a:accent1>
        <a:srgbClr val="18B80E"/>
      </a:accent1>
      <a:accent2>
        <a:srgbClr val="FFCB25"/>
      </a:accent2>
      <a:accent3>
        <a:srgbClr val="B40000"/>
      </a:accent3>
      <a:accent4>
        <a:srgbClr val="23A5A5"/>
      </a:accent4>
      <a:accent5>
        <a:srgbClr val="9C189C"/>
      </a:accent5>
      <a:accent6>
        <a:srgbClr val="408332"/>
      </a:accent6>
      <a:hlink>
        <a:srgbClr val="BF9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7e9af78-2faf-44e6-b424-47ea782aff1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2362F2D01F82438F0C2E22D3843640" ma:contentTypeVersion="5" ma:contentTypeDescription="Create a new document." ma:contentTypeScope="" ma:versionID="3441c8b153671d3da96dce21077e9305">
  <xsd:schema xmlns:xsd="http://www.w3.org/2001/XMLSchema" xmlns:xs="http://www.w3.org/2001/XMLSchema" xmlns:p="http://schemas.microsoft.com/office/2006/metadata/properties" xmlns:ns3="57e9af78-2faf-44e6-b424-47ea782aff1b" targetNamespace="http://schemas.microsoft.com/office/2006/metadata/properties" ma:root="true" ma:fieldsID="359894a88c5859df040b3a78ef87d805" ns3:_="">
    <xsd:import namespace="57e9af78-2faf-44e6-b424-47ea782aff1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e9af78-2faf-44e6-b424-47ea782aff1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9C4D1F-1719-4A54-A230-C8F8F67A6119}">
  <ds:schemaRefs/>
</ds:datastoreItem>
</file>

<file path=customXml/itemProps2.xml><?xml version="1.0" encoding="utf-8"?>
<ds:datastoreItem xmlns:ds="http://schemas.openxmlformats.org/officeDocument/2006/customXml" ds:itemID="{335A1C7F-4865-460A-B544-26AE6382251E}">
  <ds:schemaRefs>
    <ds:schemaRef ds:uri="http://schemas.microsoft.com/office/infopath/2007/PartnerControls"/>
    <ds:schemaRef ds:uri="57e9af78-2faf-44e6-b424-47ea782aff1b"/>
    <ds:schemaRef ds:uri="http://schemas.microsoft.com/office/2006/documentManagement/types"/>
    <ds:schemaRef ds:uri="http://purl.org/dc/elements/1.1/"/>
    <ds:schemaRef ds:uri="http://www.w3.org/XML/1998/namespace"/>
    <ds:schemaRef ds:uri="http://purl.org/dc/dcmitype/"/>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3E9DAC00-17D1-4BA0-8EED-AF41A6CD98AD}">
  <ds:schemaRefs/>
</ds:datastoreItem>
</file>

<file path=docProps/app.xml><?xml version="1.0" encoding="utf-8"?>
<Properties xmlns="http://schemas.openxmlformats.org/officeDocument/2006/extended-properties" xmlns:vt="http://schemas.openxmlformats.org/officeDocument/2006/docPropsVTypes">
  <TotalTime>6545</TotalTime>
  <Words>392</Words>
  <Application>Microsoft Office PowerPoint</Application>
  <PresentationFormat>Widescreen</PresentationFormat>
  <Paragraphs>55</Paragraphs>
  <Slides>10</Slides>
  <Notes>8</Notes>
  <HiddenSlides>0</HiddenSlides>
  <MMClips>1</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10</vt:i4>
      </vt:variant>
    </vt:vector>
  </HeadingPairs>
  <TitlesOfParts>
    <vt:vector size="18" baseType="lpstr">
      <vt:lpstr>Aptos</vt:lpstr>
      <vt:lpstr>Arial</vt:lpstr>
      <vt:lpstr>Calibri</vt:lpstr>
      <vt:lpstr>Comic Sans MS</vt:lpstr>
      <vt:lpstr>Times New Roman</vt:lpstr>
      <vt:lpstr>1_SlidesMania</vt:lpstr>
      <vt:lpstr>4_SlidesMania</vt:lpstr>
      <vt:lpstr>5_SlidesMania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 Lesson 1: Variables and expressions in science</dc:title>
  <dc:creator>codevishh</dc:creator>
  <cp:lastModifiedBy>codevishh</cp:lastModifiedBy>
  <cp:revision>183</cp:revision>
  <dcterms:created xsi:type="dcterms:W3CDTF">2025-10-30T20:57:00Z</dcterms:created>
  <dcterms:modified xsi:type="dcterms:W3CDTF">2026-09-05T20:13:15Z</dcterms:modified>
  <dc:subject>Grade 10 Science</dc:subject>
  <cp:keywords>algebra</cp:keywords>
  <dc:description/>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0x0101000F2362F2D01F82438F0C2E22D3843640</vt:lpwstr>
  </property>
  <property fmtid="{D5CDD505-2E9C-101B-9397-08002B2CF9AE}" pid="3" name="KSOProductBuildVer">
    <vt:lpwstr>1033-12.1.0.25242</vt:lpwstr>
  </property>
  <property fmtid="{D5CDD505-2E9C-101B-9397-08002B2CF9AE}" pid="4" name="ICV">
    <vt:lpwstr>892DE226FB5D4FA7B52F7BA78EC4EB0B_13</vt:lpwstr>
  </property>
</Properties>
</file>